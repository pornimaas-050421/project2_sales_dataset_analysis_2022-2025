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4"/>
  </p:sldMasterIdLst>
  <p:notesMasterIdLst>
    <p:notesMasterId r:id="rId24"/>
  </p:notesMasterIdLst>
  <p:handoutMasterIdLst>
    <p:handoutMasterId r:id="rId25"/>
  </p:handoutMasterIdLst>
  <p:sldIdLst>
    <p:sldId id="1497" r:id="rId5"/>
    <p:sldId id="1498" r:id="rId6"/>
    <p:sldId id="1499" r:id="rId7"/>
    <p:sldId id="1507" r:id="rId8"/>
    <p:sldId id="1514" r:id="rId9"/>
    <p:sldId id="1515" r:id="rId10"/>
    <p:sldId id="1521" r:id="rId11"/>
    <p:sldId id="1516" r:id="rId12"/>
    <p:sldId id="1522" r:id="rId13"/>
    <p:sldId id="1517" r:id="rId14"/>
    <p:sldId id="1527" r:id="rId15"/>
    <p:sldId id="1518" r:id="rId16"/>
    <p:sldId id="1526" r:id="rId17"/>
    <p:sldId id="1519" r:id="rId18"/>
    <p:sldId id="1525" r:id="rId19"/>
    <p:sldId id="1520" r:id="rId20"/>
    <p:sldId id="1524" r:id="rId21"/>
    <p:sldId id="1529" r:id="rId22"/>
    <p:sldId id="152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34"/>
  </p:normalViewPr>
  <p:slideViewPr>
    <p:cSldViewPr snapToGrid="0">
      <p:cViewPr>
        <p:scale>
          <a:sx n="60" d="100"/>
          <a:sy n="60" d="100"/>
        </p:scale>
        <p:origin x="1146" y="282"/>
      </p:cViewPr>
      <p:guideLst/>
    </p:cSldViewPr>
  </p:slideViewPr>
  <p:notesTextViewPr>
    <p:cViewPr>
      <p:scale>
        <a:sx n="1" d="1"/>
        <a:sy n="1" d="1"/>
      </p:scale>
      <p:origin x="0" y="0"/>
    </p:cViewPr>
  </p:notesTextViewPr>
  <p:sorterViewPr>
    <p:cViewPr varScale="1">
      <p:scale>
        <a:sx n="100" d="100"/>
        <a:sy n="100" d="100"/>
      </p:scale>
      <p:origin x="0" y="-1488"/>
    </p:cViewPr>
  </p:sorterViewPr>
  <p:notesViewPr>
    <p:cSldViewPr snapToGrid="0">
      <p:cViewPr varScale="1">
        <p:scale>
          <a:sx n="73" d="100"/>
          <a:sy n="73" d="100"/>
        </p:scale>
        <p:origin x="2981" y="2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C:\Excel%20Class\Excel%20Task\Project2_Sales_Dataset_Analysis_2022-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Excel%20Class\Excel%20Task\Project2_Sales_Dataset_Analysis_2022-202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Excel%20Class\Excel%20Task\Project2_Sales_Dataset_Analysis_2022-2025.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Excel%20Class\Excel%20Task\Project2_Sales_Dataset_Analysis_2022-2025.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Excel%20Class\Excel%20Task\Project2_Sales_Dataset_Analysis_2022-2025.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Excel%20Class\Excel%20Task\Project2_Sales_Dataset_Analysis_2022-2025.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[Project2_Sales_Dataset_Analysis_2022-2025.xlsx]Pivot_Tables!PivotTable1</c:name>
    <c:fmtId val="12"/>
  </c:pivotSource>
  <c:chart>
    <c:autoTitleDeleted val="1"/>
    <c:pivotFmts>
      <c:pivotFmt>
        <c:idx val="0"/>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dLbl>
          <c:idx val="0"/>
          <c:layout>
            <c:manualLayout>
              <c:x val="0"/>
              <c:y val="-5.5020624791687005E-2"/>
            </c:manualLayout>
          </c:layout>
          <c:tx>
            <c:rich>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fld id="{8A37EAE9-D0E3-4F57-A645-971BCA5470C3}" type="CELLREF">
                  <a:rPr lang="en-US">
                    <a:solidFill>
                      <a:schemeClr val="accent4">
                        <a:lumMod val="75000"/>
                      </a:schemeClr>
                    </a:solidFill>
                  </a:rPr>
                  <a:pPr>
                    <a:defRPr sz="1050" b="1" i="0" u="none" strike="noStrike" kern="1200" baseline="0">
                      <a:solidFill>
                        <a:schemeClr val="accent4">
                          <a:lumMod val="75000"/>
                        </a:schemeClr>
                      </a:solidFill>
                      <a:latin typeface="+mn-lt"/>
                      <a:ea typeface="+mn-ea"/>
                      <a:cs typeface="+mn-cs"/>
                    </a:defRPr>
                  </a:pPr>
                  <a:t>[CELLREF]</a:t>
                </a:fld>
                <a:endParaRPr lang="en-IN"/>
              </a:p>
            </c:rich>
          </c:tx>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
        <c:dLbl>
          <c:idx val="0"/>
          <c:layout>
            <c:manualLayout>
              <c:x val="0"/>
              <c:y val="-3.3012374875012268E-2"/>
            </c:manualLayout>
          </c:layout>
          <c:tx>
            <c:rich>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fld id="{D1EED661-0741-4781-88CC-CDCDF6BC8A10}" type="CELLREF">
                  <a:rPr lang="en-US">
                    <a:solidFill>
                      <a:schemeClr val="accent4">
                        <a:lumMod val="75000"/>
                      </a:schemeClr>
                    </a:solidFill>
                  </a:rPr>
                  <a:pPr>
                    <a:defRPr sz="1050" b="1" i="0" u="none" strike="noStrike" kern="1200" baseline="0">
                      <a:solidFill>
                        <a:schemeClr val="accent4">
                          <a:lumMod val="75000"/>
                        </a:schemeClr>
                      </a:solidFill>
                      <a:latin typeface="+mn-lt"/>
                      <a:ea typeface="+mn-ea"/>
                      <a:cs typeface="+mn-cs"/>
                    </a:defRPr>
                  </a:pPr>
                  <a:t>[CELLREF]</a:t>
                </a:fld>
                <a:endParaRPr lang="en-IN"/>
              </a:p>
            </c:rich>
          </c:tx>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3"/>
        <c:dLbl>
          <c:idx val="0"/>
          <c:layout>
            <c:manualLayout>
              <c:x val="0"/>
              <c:y val="-9.1701041319478413E-2"/>
            </c:manualLayout>
          </c:layout>
          <c:tx>
            <c:rich>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fld id="{4C6140F9-D6B5-40B6-93A4-118E1812DB34}" type="CELLREF">
                  <a:rPr lang="en-US">
                    <a:solidFill>
                      <a:schemeClr val="accent4">
                        <a:lumMod val="75000"/>
                      </a:schemeClr>
                    </a:solidFill>
                  </a:rPr>
                  <a:pPr>
                    <a:defRPr sz="1050" b="1" i="0" u="none" strike="noStrike" kern="1200" baseline="0">
                      <a:solidFill>
                        <a:schemeClr val="accent4">
                          <a:lumMod val="75000"/>
                        </a:schemeClr>
                      </a:solidFill>
                      <a:latin typeface="+mn-lt"/>
                      <a:ea typeface="+mn-ea"/>
                      <a:cs typeface="+mn-cs"/>
                    </a:defRPr>
                  </a:pPr>
                  <a:t>[CELLREF]</a:t>
                </a:fld>
                <a:endParaRPr lang="en-IN"/>
              </a:p>
            </c:rich>
          </c:tx>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4"/>
        <c:dLbl>
          <c:idx val="0"/>
          <c:layout>
            <c:manualLayout>
              <c:x val="0"/>
              <c:y val="-4.4016499833349668E-2"/>
            </c:manualLayout>
          </c:layout>
          <c:tx>
            <c:rich>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fld id="{015B44B3-27FC-4F1F-9B51-7D71B2C74FB9}" type="CELLREF">
                  <a:rPr lang="en-US">
                    <a:solidFill>
                      <a:schemeClr val="accent4">
                        <a:lumMod val="75000"/>
                      </a:schemeClr>
                    </a:solidFill>
                  </a:rPr>
                  <a:pPr>
                    <a:defRPr sz="1050" b="1" i="0" u="none" strike="noStrike" kern="1200" baseline="0">
                      <a:solidFill>
                        <a:schemeClr val="accent4">
                          <a:lumMod val="75000"/>
                        </a:schemeClr>
                      </a:solidFill>
                      <a:latin typeface="+mn-lt"/>
                      <a:ea typeface="+mn-ea"/>
                      <a:cs typeface="+mn-cs"/>
                    </a:defRPr>
                  </a:pPr>
                  <a:t>[CELLREF]</a:t>
                </a:fld>
                <a:endParaRPr lang="en-IN"/>
              </a:p>
            </c:rich>
          </c:tx>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5"/>
        <c:dLbl>
          <c:idx val="0"/>
          <c:layout>
            <c:manualLayout>
              <c:x val="-3.1581604733072853E-17"/>
              <c:y val="-9.903712462503661E-2"/>
            </c:manualLayout>
          </c:layout>
          <c:tx>
            <c:rich>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fld id="{1C097118-B074-4E9C-ADEC-32DB21351982}" type="CELLREF">
                  <a:rPr lang="en-US">
                    <a:solidFill>
                      <a:schemeClr val="accent4">
                        <a:lumMod val="75000"/>
                      </a:schemeClr>
                    </a:solidFill>
                  </a:rPr>
                  <a:pPr>
                    <a:defRPr sz="1050" b="1" i="0" u="none" strike="noStrike" kern="1200" baseline="0">
                      <a:solidFill>
                        <a:schemeClr val="accent4">
                          <a:lumMod val="75000"/>
                        </a:schemeClr>
                      </a:solidFill>
                      <a:latin typeface="+mn-lt"/>
                      <a:ea typeface="+mn-ea"/>
                      <a:cs typeface="+mn-cs"/>
                    </a:defRPr>
                  </a:pPr>
                  <a:t>[CELLREF]</a:t>
                </a:fld>
                <a:endParaRPr lang="en-IN"/>
              </a:p>
            </c:rich>
          </c:tx>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6"/>
        <c:dLbl>
          <c:idx val="0"/>
          <c:layout>
            <c:manualLayout>
              <c:x val="0"/>
              <c:y val="-1.8340208263895701E-2"/>
            </c:manualLayout>
          </c:layout>
          <c:tx>
            <c:rich>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fld id="{B4742170-19D5-4E62-AA28-8564C60FF962}" type="CELLREF">
                  <a:rPr lang="en-US">
                    <a:solidFill>
                      <a:schemeClr val="accent4">
                        <a:lumMod val="75000"/>
                      </a:schemeClr>
                    </a:solidFill>
                  </a:rPr>
                  <a:pPr>
                    <a:defRPr sz="1050" b="1" i="0" u="none" strike="noStrike" kern="1200" baseline="0">
                      <a:solidFill>
                        <a:schemeClr val="accent4">
                          <a:lumMod val="75000"/>
                        </a:schemeClr>
                      </a:solidFill>
                      <a:latin typeface="+mn-lt"/>
                      <a:ea typeface="+mn-ea"/>
                      <a:cs typeface="+mn-cs"/>
                    </a:defRPr>
                  </a:pPr>
                  <a:t>[CELLREF]</a:t>
                </a:fld>
                <a:endParaRPr lang="en-IN"/>
              </a:p>
            </c:rich>
          </c:tx>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7"/>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Pivot_Tables!$B$1</c:f>
              <c:strCache>
                <c:ptCount val="1"/>
                <c:pt idx="0">
                  <c:v>Total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accent5">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accent4">
                          <a:lumMod val="75000"/>
                        </a:schemeClr>
                      </a:solidFill>
                      <a:round/>
                    </a:ln>
                    <a:effectLst/>
                  </c:spPr>
                </c15:leaderLines>
              </c:ext>
            </c:extLst>
          </c:dLbls>
          <c:cat>
            <c:strRef>
              <c:f>Pivot_Tables!$A$2:$A$8</c:f>
              <c:strCache>
                <c:ptCount val="6"/>
                <c:pt idx="0">
                  <c:v>Central</c:v>
                </c:pt>
                <c:pt idx="1">
                  <c:v>East</c:v>
                </c:pt>
                <c:pt idx="2">
                  <c:v>N/A</c:v>
                </c:pt>
                <c:pt idx="3">
                  <c:v>North</c:v>
                </c:pt>
                <c:pt idx="4">
                  <c:v>South</c:v>
                </c:pt>
                <c:pt idx="5">
                  <c:v>West</c:v>
                </c:pt>
              </c:strCache>
            </c:strRef>
          </c:cat>
          <c:val>
            <c:numRef>
              <c:f>Pivot_Tables!$B$2:$B$8</c:f>
              <c:numCache>
                <c:formatCode>0.00,,"M"</c:formatCode>
                <c:ptCount val="6"/>
                <c:pt idx="0">
                  <c:v>283667840</c:v>
                </c:pt>
                <c:pt idx="1">
                  <c:v>297772793</c:v>
                </c:pt>
                <c:pt idx="2">
                  <c:v>293398297</c:v>
                </c:pt>
                <c:pt idx="3">
                  <c:v>574389630</c:v>
                </c:pt>
                <c:pt idx="4">
                  <c:v>570862463</c:v>
                </c:pt>
                <c:pt idx="5">
                  <c:v>281606372</c:v>
                </c:pt>
              </c:numCache>
            </c:numRef>
          </c:val>
          <c:extLst>
            <c:ext xmlns:c16="http://schemas.microsoft.com/office/drawing/2014/chart" uri="{C3380CC4-5D6E-409C-BE32-E72D297353CC}">
              <c16:uniqueId val="{00000000-74F8-48FA-8039-455F4423AA62}"/>
            </c:ext>
          </c:extLst>
        </c:ser>
        <c:dLbls>
          <c:dLblPos val="outEnd"/>
          <c:showLegendKey val="0"/>
          <c:showVal val="1"/>
          <c:showCatName val="0"/>
          <c:showSerName val="0"/>
          <c:showPercent val="0"/>
          <c:showBubbleSize val="0"/>
        </c:dLbls>
        <c:gapWidth val="30"/>
        <c:overlap val="-27"/>
        <c:axId val="1642486607"/>
        <c:axId val="1642488047"/>
      </c:barChart>
      <c:catAx>
        <c:axId val="1642486607"/>
        <c:scaling>
          <c:orientation val="minMax"/>
        </c:scaling>
        <c:delete val="0"/>
        <c:axPos val="b"/>
        <c:numFmt formatCode="General" sourceLinked="1"/>
        <c:majorTickMark val="out"/>
        <c:minorTickMark val="none"/>
        <c:tickLblPos val="nextTo"/>
        <c:spPr>
          <a:noFill/>
          <a:ln w="9525" cap="flat" cmpd="sng" algn="ctr">
            <a:solidFill>
              <a:schemeClr val="accent4">
                <a:lumMod val="75000"/>
              </a:schemeClr>
            </a:solidFill>
            <a:round/>
          </a:ln>
          <a:effectLst/>
        </c:spPr>
        <c:txPr>
          <a:bodyPr rot="-60000000" spcFirstLastPara="1" vertOverflow="ellipsis" vert="horz" wrap="square" anchor="ctr" anchorCtr="1"/>
          <a:lstStyle/>
          <a:p>
            <a:pPr>
              <a:defRPr sz="2800" b="1" i="0" u="none" strike="noStrike" kern="1200" baseline="0">
                <a:solidFill>
                  <a:schemeClr val="accent5">
                    <a:lumMod val="50000"/>
                  </a:schemeClr>
                </a:solidFill>
                <a:latin typeface="+mn-lt"/>
                <a:ea typeface="+mn-ea"/>
                <a:cs typeface="+mn-cs"/>
              </a:defRPr>
            </a:pPr>
            <a:endParaRPr lang="en-US"/>
          </a:p>
        </c:txPr>
        <c:crossAx val="1642488047"/>
        <c:crosses val="autoZero"/>
        <c:auto val="1"/>
        <c:lblAlgn val="ctr"/>
        <c:lblOffset val="100"/>
        <c:noMultiLvlLbl val="0"/>
      </c:catAx>
      <c:valAx>
        <c:axId val="1642488047"/>
        <c:scaling>
          <c:orientation val="minMax"/>
        </c:scaling>
        <c:delete val="1"/>
        <c:axPos val="l"/>
        <c:numFmt formatCode="0.00,,&quot;M&quot;" sourceLinked="1"/>
        <c:majorTickMark val="out"/>
        <c:minorTickMark val="none"/>
        <c:tickLblPos val="nextTo"/>
        <c:crossAx val="1642486607"/>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[Project2_Sales_Dataset_Analysis_2022-2025.xlsx]Pivot_Tables!PivotTable2</c:name>
    <c:fmtId val="16"/>
  </c:pivotSource>
  <c:chart>
    <c:autoTitleDeleted val="1"/>
    <c:pivotFmts>
      <c:pivotFmt>
        <c:idx val="0"/>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8872691933916279E-2"/>
              <c:y val="7.421154614789475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1098153547133137E-2"/>
              <c:y val="-4.452692768873690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3"/>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4.6647230320699708E-2"/>
              <c:y val="1.484230922957887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4"/>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8872691933916424E-2"/>
              <c:y val="4.947436409859611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5"/>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2.7210884353741534E-2"/>
              <c:y val="-5.4421800508456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1098153547133137E-2"/>
              <c:y val="-4.452692768873690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8872691933916279E-2"/>
              <c:y val="7.421154614789475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4.6647230320699708E-2"/>
              <c:y val="1.484230922957887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8872691933916424E-2"/>
              <c:y val="4.947436409859611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2.7210884353741534E-2"/>
              <c:y val="-5.4421800508456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1098153547133137E-2"/>
              <c:y val="-4.4526927688736909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8872691933916279E-2"/>
              <c:y val="7.4211546147894755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4.6647230320699708E-2"/>
              <c:y val="1.4842309229578878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0"/>
              <c:y val="-7.8262215221013898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2.7210884353741534E-2"/>
              <c:y val="-5.44218005084562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1098153547133137E-2"/>
              <c:y val="-4.4526927688736909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8872691933916279E-2"/>
              <c:y val="7.4211546147894755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4.6647230320699708E-2"/>
              <c:y val="1.4842309229578878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0"/>
              <c:y val="-7.8262215221013898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2.7210884353741534E-2"/>
              <c:y val="-5.44218005084562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1098153547133137E-2"/>
              <c:y val="-4.4526927688736909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3.8872691933916279E-2"/>
              <c:y val="7.4211546147894755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4.6647230320699708E-2"/>
              <c:y val="1.4842309229578878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0"/>
              <c:y val="-7.8262215221013898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dLbl>
          <c:idx val="0"/>
          <c:layout>
            <c:manualLayout>
              <c:x val="-2.7210884353741534E-2"/>
              <c:y val="-5.44218005084562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Pivot_Tables!$E$1</c:f>
              <c:strCache>
                <c:ptCount val="1"/>
                <c:pt idx="0">
                  <c:v>Total</c:v>
                </c:pt>
              </c:strCache>
            </c:strRef>
          </c:tx>
          <c:spPr>
            <a:ln>
              <a:solidFill>
                <a:schemeClr val="accent4">
                  <a:lumMod val="60000"/>
                  <a:lumOff val="40000"/>
                </a:schemeClr>
              </a:solidFill>
            </a:ln>
          </c:spPr>
          <c:dPt>
            <c:idx val="0"/>
            <c:bubble3D val="0"/>
            <c:spPr>
              <a:solidFill>
                <a:schemeClr val="accent1"/>
              </a:solidFill>
              <a:ln w="25400">
                <a:solidFill>
                  <a:schemeClr val="accent4">
                    <a:lumMod val="60000"/>
                    <a:lumOff val="40000"/>
                  </a:schemeClr>
                </a:solidFill>
              </a:ln>
              <a:effectLst/>
              <a:sp3d contourW="25400">
                <a:contourClr>
                  <a:schemeClr val="accent4">
                    <a:lumMod val="60000"/>
                    <a:lumOff val="40000"/>
                  </a:schemeClr>
                </a:contourClr>
              </a:sp3d>
            </c:spPr>
            <c:extLst>
              <c:ext xmlns:c16="http://schemas.microsoft.com/office/drawing/2014/chart" uri="{C3380CC4-5D6E-409C-BE32-E72D297353CC}">
                <c16:uniqueId val="{00000001-858E-42FB-86A7-1A1D22AEDB39}"/>
              </c:ext>
            </c:extLst>
          </c:dPt>
          <c:dPt>
            <c:idx val="1"/>
            <c:bubble3D val="0"/>
            <c:spPr>
              <a:solidFill>
                <a:schemeClr val="accent2"/>
              </a:solidFill>
              <a:ln w="25400">
                <a:solidFill>
                  <a:schemeClr val="accent4">
                    <a:lumMod val="60000"/>
                    <a:lumOff val="40000"/>
                  </a:schemeClr>
                </a:solidFill>
              </a:ln>
              <a:effectLst/>
              <a:sp3d contourW="25400">
                <a:contourClr>
                  <a:schemeClr val="accent4">
                    <a:lumMod val="60000"/>
                    <a:lumOff val="40000"/>
                  </a:schemeClr>
                </a:contourClr>
              </a:sp3d>
            </c:spPr>
            <c:extLst>
              <c:ext xmlns:c16="http://schemas.microsoft.com/office/drawing/2014/chart" uri="{C3380CC4-5D6E-409C-BE32-E72D297353CC}">
                <c16:uniqueId val="{00000003-858E-42FB-86A7-1A1D22AEDB39}"/>
              </c:ext>
            </c:extLst>
          </c:dPt>
          <c:dPt>
            <c:idx val="2"/>
            <c:bubble3D val="0"/>
            <c:spPr>
              <a:solidFill>
                <a:schemeClr val="accent3"/>
              </a:solidFill>
              <a:ln w="25400">
                <a:solidFill>
                  <a:schemeClr val="accent4">
                    <a:lumMod val="60000"/>
                    <a:lumOff val="40000"/>
                  </a:schemeClr>
                </a:solidFill>
              </a:ln>
              <a:effectLst/>
              <a:sp3d contourW="25400">
                <a:contourClr>
                  <a:schemeClr val="accent4">
                    <a:lumMod val="60000"/>
                    <a:lumOff val="40000"/>
                  </a:schemeClr>
                </a:contourClr>
              </a:sp3d>
            </c:spPr>
            <c:extLst>
              <c:ext xmlns:c16="http://schemas.microsoft.com/office/drawing/2014/chart" uri="{C3380CC4-5D6E-409C-BE32-E72D297353CC}">
                <c16:uniqueId val="{00000005-858E-42FB-86A7-1A1D22AEDB39}"/>
              </c:ext>
            </c:extLst>
          </c:dPt>
          <c:dPt>
            <c:idx val="3"/>
            <c:bubble3D val="0"/>
            <c:spPr>
              <a:solidFill>
                <a:schemeClr val="accent4"/>
              </a:solidFill>
              <a:ln w="25400">
                <a:solidFill>
                  <a:schemeClr val="accent4">
                    <a:lumMod val="60000"/>
                    <a:lumOff val="40000"/>
                  </a:schemeClr>
                </a:solidFill>
              </a:ln>
              <a:effectLst/>
              <a:sp3d contourW="25400">
                <a:contourClr>
                  <a:schemeClr val="accent4">
                    <a:lumMod val="60000"/>
                    <a:lumOff val="40000"/>
                  </a:schemeClr>
                </a:contourClr>
              </a:sp3d>
            </c:spPr>
            <c:extLst>
              <c:ext xmlns:c16="http://schemas.microsoft.com/office/drawing/2014/chart" uri="{C3380CC4-5D6E-409C-BE32-E72D297353CC}">
                <c16:uniqueId val="{00000007-858E-42FB-86A7-1A1D22AEDB39}"/>
              </c:ext>
            </c:extLst>
          </c:dPt>
          <c:dPt>
            <c:idx val="4"/>
            <c:bubble3D val="0"/>
            <c:spPr>
              <a:solidFill>
                <a:schemeClr val="accent5"/>
              </a:solidFill>
              <a:ln w="25400">
                <a:solidFill>
                  <a:schemeClr val="accent4">
                    <a:lumMod val="60000"/>
                    <a:lumOff val="40000"/>
                  </a:schemeClr>
                </a:solidFill>
              </a:ln>
              <a:effectLst/>
              <a:sp3d contourW="25400">
                <a:contourClr>
                  <a:schemeClr val="accent4">
                    <a:lumMod val="60000"/>
                    <a:lumOff val="40000"/>
                  </a:schemeClr>
                </a:contourClr>
              </a:sp3d>
            </c:spPr>
            <c:extLst>
              <c:ext xmlns:c16="http://schemas.microsoft.com/office/drawing/2014/chart" uri="{C3380CC4-5D6E-409C-BE32-E72D297353CC}">
                <c16:uniqueId val="{00000009-858E-42FB-86A7-1A1D22AEDB39}"/>
              </c:ext>
            </c:extLst>
          </c:dPt>
          <c:dLbls>
            <c:dLbl>
              <c:idx val="0"/>
              <c:layout>
                <c:manualLayout>
                  <c:x val="3.1098153547133137E-2"/>
                  <c:y val="-4.4526927688736909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8E-42FB-86A7-1A1D22AEDB39}"/>
                </c:ext>
              </c:extLst>
            </c:dLbl>
            <c:dLbl>
              <c:idx val="1"/>
              <c:layout>
                <c:manualLayout>
                  <c:x val="3.8872691933916279E-2"/>
                  <c:y val="7.4211546147894755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58E-42FB-86A7-1A1D22AEDB39}"/>
                </c:ext>
              </c:extLst>
            </c:dLbl>
            <c:dLbl>
              <c:idx val="2"/>
              <c:layout>
                <c:manualLayout>
                  <c:x val="-4.6647230320699708E-2"/>
                  <c:y val="1.484230922957887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58E-42FB-86A7-1A1D22AEDB39}"/>
                </c:ext>
              </c:extLst>
            </c:dLbl>
            <c:dLbl>
              <c:idx val="3"/>
              <c:layout>
                <c:manualLayout>
                  <c:x val="0"/>
                  <c:y val="-7.826221522101389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58E-42FB-86A7-1A1D22AEDB39}"/>
                </c:ext>
              </c:extLst>
            </c:dLbl>
            <c:dLbl>
              <c:idx val="4"/>
              <c:layout>
                <c:manualLayout>
                  <c:x val="-2.7210884353741534E-2"/>
                  <c:y val="-5.44218005084562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58E-42FB-86A7-1A1D22AEDB39}"/>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accent5">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accent4">
                      <a:lumMod val="75000"/>
                    </a:schemeClr>
                  </a:solidFill>
                  <a:round/>
                </a:ln>
                <a:effectLst/>
              </c:spPr>
            </c:leaderLines>
            <c:extLst>
              <c:ext xmlns:c15="http://schemas.microsoft.com/office/drawing/2012/chart" uri="{CE6537A1-D6FC-4f65-9D91-7224C49458BB}"/>
            </c:extLst>
          </c:dLbls>
          <c:cat>
            <c:strRef>
              <c:f>Pivot_Tables!$D$2:$D$7</c:f>
              <c:strCache>
                <c:ptCount val="5"/>
                <c:pt idx="0">
                  <c:v>Appliances</c:v>
                </c:pt>
                <c:pt idx="1">
                  <c:v>Electronics</c:v>
                </c:pt>
                <c:pt idx="2">
                  <c:v>Furniture</c:v>
                </c:pt>
                <c:pt idx="3">
                  <c:v>N/A</c:v>
                </c:pt>
                <c:pt idx="4">
                  <c:v>Office Supplies</c:v>
                </c:pt>
              </c:strCache>
            </c:strRef>
          </c:cat>
          <c:val>
            <c:numRef>
              <c:f>Pivot_Tables!$E$2:$E$7</c:f>
              <c:numCache>
                <c:formatCode>0.00,,"M"</c:formatCode>
                <c:ptCount val="5"/>
                <c:pt idx="0">
                  <c:v>314419614</c:v>
                </c:pt>
                <c:pt idx="1">
                  <c:v>654905194</c:v>
                </c:pt>
                <c:pt idx="2">
                  <c:v>679648382</c:v>
                </c:pt>
                <c:pt idx="3">
                  <c:v>322538778</c:v>
                </c:pt>
                <c:pt idx="4">
                  <c:v>330185427</c:v>
                </c:pt>
              </c:numCache>
            </c:numRef>
          </c:val>
          <c:extLst>
            <c:ext xmlns:c16="http://schemas.microsoft.com/office/drawing/2014/chart" uri="{C3380CC4-5D6E-409C-BE32-E72D297353CC}">
              <c16:uniqueId val="{0000000A-858E-42FB-86A7-1A1D22AEDB39}"/>
            </c:ext>
          </c:extLst>
        </c:ser>
        <c:dLbls>
          <c:dLblPos val="outEnd"/>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800" b="1" i="0" u="none" strike="noStrike" kern="1200" baseline="0">
              <a:solidFill>
                <a:schemeClr val="accent5">
                  <a:lumMod val="5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[Project2_Sales_Dataset_Analysis_2022-2025.xlsx]Pivot_Tables!PivotTable3</c:name>
    <c:fmtId val="11"/>
  </c:pivotSource>
  <c:chart>
    <c:autoTitleDeleted val="1"/>
    <c:pivotFmts>
      <c:pivotFmt>
        <c:idx val="0"/>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4">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Pivot_Tables!$H$1</c:f>
              <c:strCache>
                <c:ptCount val="1"/>
                <c:pt idx="0">
                  <c:v>Total</c:v>
                </c:pt>
              </c:strCache>
            </c:strRef>
          </c:tx>
          <c:spPr>
            <a:solidFill>
              <a:schemeClr val="accent5">
                <a:lumMod val="50000"/>
              </a:schemeClr>
            </a:solidFill>
            <a:ln>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accent5">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Pivot_Tables!$G$2:$G$13</c:f>
              <c:strCache>
                <c:ptCount val="11"/>
                <c:pt idx="0">
                  <c:v>Amit</c:v>
                </c:pt>
                <c:pt idx="1">
                  <c:v>Ananya</c:v>
                </c:pt>
                <c:pt idx="2">
                  <c:v>Arjun</c:v>
                </c:pt>
                <c:pt idx="3">
                  <c:v>Karthik</c:v>
                </c:pt>
                <c:pt idx="4">
                  <c:v>Meera</c:v>
                </c:pt>
                <c:pt idx="5">
                  <c:v>N/A</c:v>
                </c:pt>
                <c:pt idx="6">
                  <c:v>Priya</c:v>
                </c:pt>
                <c:pt idx="7">
                  <c:v>Rahul</c:v>
                </c:pt>
                <c:pt idx="8">
                  <c:v>Rohit</c:v>
                </c:pt>
                <c:pt idx="9">
                  <c:v>Sneha</c:v>
                </c:pt>
                <c:pt idx="10">
                  <c:v>Vikram</c:v>
                </c:pt>
              </c:strCache>
            </c:strRef>
          </c:cat>
          <c:val>
            <c:numRef>
              <c:f>Pivot_Tables!$H$2:$H$13</c:f>
              <c:numCache>
                <c:formatCode>0.00,,"M"</c:formatCode>
                <c:ptCount val="11"/>
                <c:pt idx="0">
                  <c:v>215392765</c:v>
                </c:pt>
                <c:pt idx="1">
                  <c:v>201113728</c:v>
                </c:pt>
                <c:pt idx="2">
                  <c:v>207029466</c:v>
                </c:pt>
                <c:pt idx="3">
                  <c:v>212864075</c:v>
                </c:pt>
                <c:pt idx="4">
                  <c:v>213461473</c:v>
                </c:pt>
                <c:pt idx="5">
                  <c:v>217043436</c:v>
                </c:pt>
                <c:pt idx="6">
                  <c:v>211241315</c:v>
                </c:pt>
                <c:pt idx="7">
                  <c:v>215496277</c:v>
                </c:pt>
                <c:pt idx="8">
                  <c:v>202230649</c:v>
                </c:pt>
                <c:pt idx="9">
                  <c:v>201869969</c:v>
                </c:pt>
                <c:pt idx="10">
                  <c:v>203954242</c:v>
                </c:pt>
              </c:numCache>
            </c:numRef>
          </c:val>
          <c:extLst>
            <c:ext xmlns:c16="http://schemas.microsoft.com/office/drawing/2014/chart" uri="{C3380CC4-5D6E-409C-BE32-E72D297353CC}">
              <c16:uniqueId val="{00000000-652D-41A3-808F-A639FE3D1184}"/>
            </c:ext>
          </c:extLst>
        </c:ser>
        <c:dLbls>
          <c:showLegendKey val="0"/>
          <c:showVal val="0"/>
          <c:showCatName val="0"/>
          <c:showSerName val="0"/>
          <c:showPercent val="0"/>
          <c:showBubbleSize val="0"/>
        </c:dLbls>
        <c:gapWidth val="27"/>
        <c:axId val="278723071"/>
        <c:axId val="278714431"/>
      </c:barChart>
      <c:catAx>
        <c:axId val="27872307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accent5">
                    <a:lumMod val="50000"/>
                  </a:schemeClr>
                </a:solidFill>
                <a:latin typeface="+mn-lt"/>
                <a:ea typeface="+mn-ea"/>
                <a:cs typeface="+mn-cs"/>
              </a:defRPr>
            </a:pPr>
            <a:endParaRPr lang="en-US"/>
          </a:p>
        </c:txPr>
        <c:crossAx val="278714431"/>
        <c:crosses val="autoZero"/>
        <c:auto val="1"/>
        <c:lblAlgn val="ctr"/>
        <c:lblOffset val="100"/>
        <c:noMultiLvlLbl val="0"/>
      </c:catAx>
      <c:valAx>
        <c:axId val="278714431"/>
        <c:scaling>
          <c:orientation val="minMax"/>
        </c:scaling>
        <c:delete val="1"/>
        <c:axPos val="b"/>
        <c:numFmt formatCode="0.00,,&quot;M&quot;" sourceLinked="1"/>
        <c:majorTickMark val="none"/>
        <c:minorTickMark val="none"/>
        <c:tickLblPos val="nextTo"/>
        <c:crossAx val="27872307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[Project2_Sales_Dataset_Analysis_2022-2025.xlsx]Pivot_Tables!PivotTable4</c:name>
    <c:fmtId val="16"/>
  </c:pivotSource>
  <c:chart>
    <c:autoTitleDeleted val="1"/>
    <c:pivotFmts>
      <c:pivotFmt>
        <c:idx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34925" cap="rnd">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34925" cap="rnd">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34925" cap="rnd">
            <a:solidFill>
              <a:schemeClr val="accent4">
                <a:lumMod val="75000"/>
              </a:schemeClr>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spPr>
            <a:solidFill>
              <a:schemeClr val="accent4">
                <a:lumMod val="50000"/>
              </a:schemeClr>
            </a:soli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34925" cap="rnd">
            <a:solidFill>
              <a:schemeClr val="accent4">
                <a:lumMod val="75000"/>
              </a:schemeClr>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spPr>
            <a:solidFill>
              <a:schemeClr val="accent4">
                <a:lumMod val="50000"/>
              </a:schemeClr>
            </a:soli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34925" cap="rnd">
            <a:solidFill>
              <a:schemeClr val="accent4">
                <a:lumMod val="75000"/>
              </a:schemeClr>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spPr>
            <a:solidFill>
              <a:schemeClr val="accent4">
                <a:lumMod val="50000"/>
              </a:schemeClr>
            </a:soli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34925" cap="rnd">
            <a:solidFill>
              <a:schemeClr val="accent4">
                <a:lumMod val="75000"/>
              </a:schemeClr>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spPr>
            <a:solidFill>
              <a:schemeClr val="accent4">
                <a:lumMod val="50000"/>
              </a:schemeClr>
            </a:soli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4">
                <a:lumMod val="75000"/>
              </a:schemeClr>
            </a:solidFill>
            <a:round/>
          </a:ln>
          <a:effectLst>
            <a:outerShdw blurRad="40000" dist="23000" dir="5400000" rotWithShape="0">
              <a:srgbClr val="000000">
                <a:alpha val="35000"/>
              </a:srgbClr>
            </a:outerShdw>
          </a:effectLst>
        </c:spPr>
        <c:marker>
          <c:symbol val="circle"/>
          <c:size val="6"/>
          <c:spPr>
            <a:solidFill>
              <a:schemeClr val="accent4">
                <a:lumMod val="50000"/>
              </a:schemeClr>
            </a:soli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1.9510272966728491E-2"/>
          <c:y val="3.6980201213365316E-2"/>
          <c:w val="0.96419206309067007"/>
          <c:h val="0.8590227797253801"/>
        </c:manualLayout>
      </c:layout>
      <c:lineChart>
        <c:grouping val="stacked"/>
        <c:varyColors val="0"/>
        <c:ser>
          <c:idx val="0"/>
          <c:order val="0"/>
          <c:tx>
            <c:strRef>
              <c:f>Pivot_Tables!$K$1</c:f>
              <c:strCache>
                <c:ptCount val="1"/>
                <c:pt idx="0">
                  <c:v>Total</c:v>
                </c:pt>
              </c:strCache>
            </c:strRef>
          </c:tx>
          <c:spPr>
            <a:ln w="34925" cap="rnd">
              <a:solidFill>
                <a:schemeClr val="accent5">
                  <a:lumMod val="50000"/>
                </a:schemeClr>
              </a:solidFill>
              <a:round/>
            </a:ln>
            <a:effectLst>
              <a:outerShdw blurRad="40000" dist="23000" dir="5400000" rotWithShape="0">
                <a:srgbClr val="000000">
                  <a:alpha val="35000"/>
                </a:srgbClr>
              </a:outerShdw>
            </a:effectLst>
          </c:spPr>
          <c:marker>
            <c:symbol val="circle"/>
            <c:size val="6"/>
            <c:spPr>
              <a:solidFill>
                <a:schemeClr val="accent5">
                  <a:lumMod val="50000"/>
                </a:schemeClr>
              </a:solidFill>
              <a:ln w="9525">
                <a:solidFill>
                  <a:srgbClr val="7030A0"/>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cat>
            <c:strRef>
              <c:f>Pivot_Tables!$J$2:$J$12</c:f>
              <c:strCache>
                <c:ptCount val="10"/>
                <c:pt idx="0">
                  <c:v>01-12-2024</c:v>
                </c:pt>
                <c:pt idx="1">
                  <c:v>02-04-2023</c:v>
                </c:pt>
                <c:pt idx="2">
                  <c:v>05-09-2024</c:v>
                </c:pt>
                <c:pt idx="3">
                  <c:v>07-01-2022</c:v>
                </c:pt>
                <c:pt idx="4">
                  <c:v>07-11-2022</c:v>
                </c:pt>
                <c:pt idx="5">
                  <c:v>07-11-2023</c:v>
                </c:pt>
                <c:pt idx="6">
                  <c:v>10-07-2023</c:v>
                </c:pt>
                <c:pt idx="7">
                  <c:v>10-11-2023</c:v>
                </c:pt>
                <c:pt idx="8">
                  <c:v>12-11-2022</c:v>
                </c:pt>
                <c:pt idx="9">
                  <c:v>N/A</c:v>
                </c:pt>
              </c:strCache>
            </c:strRef>
          </c:cat>
          <c:val>
            <c:numRef>
              <c:f>Pivot_Tables!$K$2:$K$12</c:f>
              <c:numCache>
                <c:formatCode>General</c:formatCode>
                <c:ptCount val="10"/>
                <c:pt idx="0">
                  <c:v>2939763</c:v>
                </c:pt>
                <c:pt idx="1">
                  <c:v>3054757</c:v>
                </c:pt>
                <c:pt idx="2">
                  <c:v>3115777</c:v>
                </c:pt>
                <c:pt idx="3">
                  <c:v>3323547</c:v>
                </c:pt>
                <c:pt idx="4">
                  <c:v>2902791</c:v>
                </c:pt>
                <c:pt idx="5">
                  <c:v>3127029</c:v>
                </c:pt>
                <c:pt idx="6">
                  <c:v>3201935</c:v>
                </c:pt>
                <c:pt idx="7">
                  <c:v>3082101</c:v>
                </c:pt>
                <c:pt idx="8">
                  <c:v>3135635</c:v>
                </c:pt>
                <c:pt idx="9">
                  <c:v>579416993</c:v>
                </c:pt>
              </c:numCache>
            </c:numRef>
          </c:val>
          <c:smooth val="0"/>
          <c:extLst>
            <c:ext xmlns:c16="http://schemas.microsoft.com/office/drawing/2014/chart" uri="{C3380CC4-5D6E-409C-BE32-E72D297353CC}">
              <c16:uniqueId val="{00000000-A1D7-46C7-B3A7-4D41A6B74AC3}"/>
            </c:ext>
          </c:extLst>
        </c:ser>
        <c:dLbls>
          <c:showLegendKey val="0"/>
          <c:showVal val="0"/>
          <c:showCatName val="0"/>
          <c:showSerName val="0"/>
          <c:showPercent val="0"/>
          <c:showBubbleSize val="0"/>
        </c:dLbls>
        <c:marker val="1"/>
        <c:smooth val="0"/>
        <c:axId val="1689393711"/>
        <c:axId val="1689398991"/>
      </c:lineChart>
      <c:catAx>
        <c:axId val="1689393711"/>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accent5">
                    <a:lumMod val="50000"/>
                  </a:schemeClr>
                </a:solidFill>
                <a:latin typeface="+mn-lt"/>
                <a:ea typeface="+mn-ea"/>
                <a:cs typeface="+mn-cs"/>
              </a:defRPr>
            </a:pPr>
            <a:endParaRPr lang="en-US"/>
          </a:p>
        </c:txPr>
        <c:crossAx val="1689398991"/>
        <c:crosses val="autoZero"/>
        <c:auto val="1"/>
        <c:lblAlgn val="ctr"/>
        <c:lblOffset val="100"/>
        <c:noMultiLvlLbl val="0"/>
      </c:catAx>
      <c:valAx>
        <c:axId val="1689398991"/>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1" i="0" u="none" strike="noStrike" kern="1200" baseline="0">
                <a:solidFill>
                  <a:schemeClr val="accent5">
                    <a:lumMod val="50000"/>
                  </a:schemeClr>
                </a:solidFill>
                <a:latin typeface="+mn-lt"/>
                <a:ea typeface="+mn-ea"/>
                <a:cs typeface="+mn-cs"/>
              </a:defRPr>
            </a:pPr>
            <a:endParaRPr lang="en-US"/>
          </a:p>
        </c:txPr>
        <c:crossAx val="1689393711"/>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[Project2_Sales_Dataset_Analysis_2022-2025.xlsx]Pivot_Tables!PivotTable5</c:name>
    <c:fmtId val="11"/>
  </c:pivotSource>
  <c:chart>
    <c:autoTitleDeleted val="1"/>
    <c:pivotFmts>
      <c:pivotFmt>
        <c:idx val="0"/>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Pivot_Tables!$N$1</c:f>
              <c:strCache>
                <c:ptCount val="1"/>
                <c:pt idx="0">
                  <c:v>Total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Pivot_Tables!$M$2:$M$7</c:f>
              <c:strCache>
                <c:ptCount val="5"/>
                <c:pt idx="0">
                  <c:v>Cash</c:v>
                </c:pt>
                <c:pt idx="1">
                  <c:v>Credit Card</c:v>
                </c:pt>
                <c:pt idx="2">
                  <c:v>N/A</c:v>
                </c:pt>
                <c:pt idx="3">
                  <c:v>Net Banking</c:v>
                </c:pt>
                <c:pt idx="4">
                  <c:v>UPI</c:v>
                </c:pt>
              </c:strCache>
            </c:strRef>
          </c:cat>
          <c:val>
            <c:numRef>
              <c:f>Pivot_Tables!$N$2:$N$7</c:f>
              <c:numCache>
                <c:formatCode>General</c:formatCode>
                <c:ptCount val="5"/>
                <c:pt idx="0">
                  <c:v>49703</c:v>
                </c:pt>
                <c:pt idx="1">
                  <c:v>24998</c:v>
                </c:pt>
                <c:pt idx="2">
                  <c:v>25219</c:v>
                </c:pt>
                <c:pt idx="3">
                  <c:v>25250</c:v>
                </c:pt>
                <c:pt idx="4">
                  <c:v>24830</c:v>
                </c:pt>
              </c:numCache>
            </c:numRef>
          </c:val>
          <c:extLst>
            <c:ext xmlns:c16="http://schemas.microsoft.com/office/drawing/2014/chart" uri="{C3380CC4-5D6E-409C-BE32-E72D297353CC}">
              <c16:uniqueId val="{00000000-571F-4F91-9BBD-0045D28E8492}"/>
            </c:ext>
          </c:extLst>
        </c:ser>
        <c:dLbls>
          <c:dLblPos val="ctr"/>
          <c:showLegendKey val="0"/>
          <c:showVal val="1"/>
          <c:showCatName val="0"/>
          <c:showSerName val="0"/>
          <c:showPercent val="0"/>
          <c:showBubbleSize val="0"/>
        </c:dLbls>
        <c:gapWidth val="32"/>
        <c:axId val="1689394191"/>
        <c:axId val="1689395151"/>
      </c:barChart>
      <c:catAx>
        <c:axId val="168939419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accent4">
                    <a:lumMod val="75000"/>
                  </a:schemeClr>
                </a:solidFill>
                <a:latin typeface="+mn-lt"/>
                <a:ea typeface="+mn-ea"/>
                <a:cs typeface="+mn-cs"/>
              </a:defRPr>
            </a:pPr>
            <a:endParaRPr lang="en-US"/>
          </a:p>
        </c:txPr>
        <c:crossAx val="1689395151"/>
        <c:crosses val="autoZero"/>
        <c:auto val="1"/>
        <c:lblAlgn val="ctr"/>
        <c:lblOffset val="100"/>
        <c:noMultiLvlLbl val="0"/>
      </c:catAx>
      <c:valAx>
        <c:axId val="1689395151"/>
        <c:scaling>
          <c:orientation val="minMax"/>
        </c:scaling>
        <c:delete val="1"/>
        <c:axPos val="b"/>
        <c:numFmt formatCode="General" sourceLinked="1"/>
        <c:majorTickMark val="none"/>
        <c:minorTickMark val="none"/>
        <c:tickLblPos val="nextTo"/>
        <c:crossAx val="168939419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[Project2_Sales_Dataset_Analysis_2022-2025.xlsx]Pivot_Tables!PivotTable6</c:name>
    <c:fmtId val="12"/>
  </c:pivotSource>
  <c:chart>
    <c:autoTitleDeleted val="1"/>
    <c:pivotFmts>
      <c:pivotFmt>
        <c:idx val="0"/>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lumMod val="75000"/>
            </a:schemeClr>
          </a:solidFill>
          <a:ln>
            <a:noFill/>
          </a:ln>
          <a:effectLst/>
        </c:spPr>
      </c:pivotFmt>
      <c:pivotFmt>
        <c:idx val="2"/>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4">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Pivot_Tables!$Q$1</c:f>
              <c:strCache>
                <c:ptCount val="1"/>
                <c:pt idx="0">
                  <c:v>Total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2">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Pivot_Tables!$P$2:$P$8</c:f>
              <c:strCache>
                <c:ptCount val="6"/>
                <c:pt idx="0">
                  <c:v>Central</c:v>
                </c:pt>
                <c:pt idx="1">
                  <c:v>East</c:v>
                </c:pt>
                <c:pt idx="2">
                  <c:v>N/A</c:v>
                </c:pt>
                <c:pt idx="3">
                  <c:v>North</c:v>
                </c:pt>
                <c:pt idx="4">
                  <c:v>South</c:v>
                </c:pt>
                <c:pt idx="5">
                  <c:v>West</c:v>
                </c:pt>
              </c:strCache>
            </c:strRef>
          </c:cat>
          <c:val>
            <c:numRef>
              <c:f>Pivot_Tables!$Q$2:$Q$8</c:f>
              <c:numCache>
                <c:formatCode>General</c:formatCode>
                <c:ptCount val="6"/>
                <c:pt idx="0">
                  <c:v>18696</c:v>
                </c:pt>
                <c:pt idx="1">
                  <c:v>18852</c:v>
                </c:pt>
                <c:pt idx="2">
                  <c:v>18771</c:v>
                </c:pt>
                <c:pt idx="3">
                  <c:v>37500</c:v>
                </c:pt>
                <c:pt idx="4">
                  <c:v>37322</c:v>
                </c:pt>
                <c:pt idx="5">
                  <c:v>18859</c:v>
                </c:pt>
              </c:numCache>
            </c:numRef>
          </c:val>
          <c:extLst>
            <c:ext xmlns:c16="http://schemas.microsoft.com/office/drawing/2014/chart" uri="{C3380CC4-5D6E-409C-BE32-E72D297353CC}">
              <c16:uniqueId val="{00000000-36CF-4857-9B29-7164CC5BA528}"/>
            </c:ext>
          </c:extLst>
        </c:ser>
        <c:dLbls>
          <c:dLblPos val="ctr"/>
          <c:showLegendKey val="0"/>
          <c:showVal val="1"/>
          <c:showCatName val="0"/>
          <c:showSerName val="0"/>
          <c:showPercent val="0"/>
          <c:showBubbleSize val="0"/>
        </c:dLbls>
        <c:gapWidth val="50"/>
        <c:overlap val="100"/>
        <c:axId val="477776495"/>
        <c:axId val="477782735"/>
      </c:barChart>
      <c:catAx>
        <c:axId val="477776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accent5">
                    <a:lumMod val="50000"/>
                  </a:schemeClr>
                </a:solidFill>
                <a:latin typeface="+mn-lt"/>
                <a:ea typeface="+mn-ea"/>
                <a:cs typeface="+mn-cs"/>
              </a:defRPr>
            </a:pPr>
            <a:endParaRPr lang="en-US"/>
          </a:p>
        </c:txPr>
        <c:crossAx val="477782735"/>
        <c:crosses val="autoZero"/>
        <c:auto val="1"/>
        <c:lblAlgn val="ctr"/>
        <c:lblOffset val="100"/>
        <c:noMultiLvlLbl val="0"/>
      </c:catAx>
      <c:valAx>
        <c:axId val="477782735"/>
        <c:scaling>
          <c:orientation val="minMax"/>
        </c:scaling>
        <c:delete val="1"/>
        <c:axPos val="l"/>
        <c:numFmt formatCode="General" sourceLinked="1"/>
        <c:majorTickMark val="out"/>
        <c:minorTickMark val="none"/>
        <c:tickLblPos val="nextTo"/>
        <c:crossAx val="4777764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3/18/2026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30"/>
            <a:ext cx="11460480" cy="471668"/>
          </a:xfrm>
        </p:spPr>
        <p:txBody>
          <a:bodyPr anchor="t">
            <a:normAutofit/>
          </a:bodyPr>
          <a:lstStyle>
            <a:lvl1pPr marL="0" indent="0" algn="l">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137160" y="6453002"/>
            <a:ext cx="3494314" cy="365125"/>
          </a:xfrm>
          <a:prstGeom prst="rect">
            <a:avLst/>
          </a:prstGeom>
        </p:spPr>
        <p:txBody>
          <a:bodyPr/>
          <a:lstStyle/>
          <a:p>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9078330" y="6444297"/>
            <a:ext cx="2447884" cy="365125"/>
          </a:xfrm>
          <a:prstGeom prst="rect">
            <a:avLst/>
          </a:prstGeom>
        </p:spPr>
        <p:txBody>
          <a:bodyPr/>
          <a:lstStyle/>
          <a:p>
            <a:pPr algn="r"/>
            <a:r>
              <a:rPr lang="en-US" dirty="0"/>
              <a:t>High-impact sales strategies</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923657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70481D4-DE7D-3DE7-7EA7-5C7300E77C40}"/>
              </a:ext>
            </a:extLst>
          </p:cNvPr>
          <p:cNvSpPr>
            <a:spLocks noGrp="1"/>
          </p:cNvSpPr>
          <p:nvPr>
            <p:ph type="title"/>
          </p:nvPr>
        </p:nvSpPr>
        <p:spPr>
          <a:xfrm>
            <a:off x="1188720" y="881063"/>
            <a:ext cx="10390634" cy="867412"/>
          </a:xfrm>
        </p:spPr>
        <p:txBody>
          <a:bodyPr lIns="0" anchor="ctr">
            <a:normAutofit/>
          </a:bodyPr>
          <a:lstStyle>
            <a:lvl1pPr>
              <a:defRPr sz="5400"/>
            </a:lvl1pPr>
          </a:lstStyle>
          <a:p>
            <a:r>
              <a:rPr lang="en-US"/>
              <a:t>Click to edit Master title style</a:t>
            </a:r>
            <a:endParaRPr lang="en-US" dirty="0"/>
          </a:p>
        </p:txBody>
      </p:sp>
      <p:sp>
        <p:nvSpPr>
          <p:cNvPr id="12" name="Slide Number Placeholder 5">
            <a:extLst>
              <a:ext uri="{FF2B5EF4-FFF2-40B4-BE49-F238E27FC236}">
                <a16:creationId xmlns:a16="http://schemas.microsoft.com/office/drawing/2014/main" id="{E7835740-4430-BC15-9747-F191C8CB7871}"/>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11" name="Footer Placeholder 4">
            <a:extLst>
              <a:ext uri="{FF2B5EF4-FFF2-40B4-BE49-F238E27FC236}">
                <a16:creationId xmlns:a16="http://schemas.microsoft.com/office/drawing/2014/main" id="{8056C580-C0FA-36F5-AD10-7B56327981F4}"/>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188719" y="2070404"/>
            <a:ext cx="10250215" cy="423895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33901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a:prstGeom prst="rect">
            <a:avLst/>
          </a:prstGeom>
        </p:spPr>
        <p:txBody>
          <a:bodyPr/>
          <a:lstStyle>
            <a:lvl1pPr>
              <a:defRPr>
                <a:solidFill>
                  <a:schemeClr val="tx1"/>
                </a:solidFill>
                <a:effectLst/>
              </a:defRPr>
            </a:lvl1pPr>
          </a:lstStyle>
          <a:p>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4753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2129475"/>
            <a:ext cx="4152898" cy="4093525"/>
          </a:xfrm>
        </p:spPr>
        <p:txBody>
          <a:bodyPr anchor="t">
            <a:noAutofit/>
          </a:bodyPr>
          <a:lstStyle>
            <a:lvl1pPr algn="l">
              <a:defRPr sz="7200" b="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90622" y="1000759"/>
            <a:ext cx="5095878" cy="417408"/>
          </a:xfrm>
        </p:spPr>
        <p:txBody>
          <a:bodyPr lIns="0" anchor="b">
            <a:noAutofit/>
          </a:bodyPr>
          <a:lstStyle>
            <a:lvl1pPr marL="0" indent="0" algn="l">
              <a:buNone/>
              <a:defRPr sz="1800" b="1">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7224097" y="0"/>
            <a:ext cx="3777281"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0472585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8720" y="548642"/>
            <a:ext cx="7478991" cy="3635797"/>
          </a:xfrm>
        </p:spPr>
        <p:txBody>
          <a:bodyPr anchor="t">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8720" y="4473553"/>
            <a:ext cx="6655522" cy="1545336"/>
          </a:xfrm>
        </p:spPr>
        <p:txBody>
          <a:bodyPr anchor="b">
            <a:normAutofit/>
          </a:bodyPr>
          <a:lstStyle>
            <a:lvl1pPr marL="0" indent="0" algn="l">
              <a:buNone/>
              <a:defRPr sz="2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Footer Placeholder 4">
            <a:extLst>
              <a:ext uri="{FF2B5EF4-FFF2-40B4-BE49-F238E27FC236}">
                <a16:creationId xmlns:a16="http://schemas.microsoft.com/office/drawing/2014/main" id="{7A00730E-C88D-D102-6D5F-4B67F8EB416B}"/>
              </a:ext>
            </a:extLst>
          </p:cNvPr>
          <p:cNvSpPr>
            <a:spLocks noGrp="1"/>
          </p:cNvSpPr>
          <p:nvPr>
            <p:ph type="ftr" sz="quarter" idx="11"/>
          </p:nvPr>
        </p:nvSpPr>
        <p:spPr>
          <a:xfrm>
            <a:off x="8735430" y="6114097"/>
            <a:ext cx="2447884" cy="365125"/>
          </a:xfrm>
          <a:prstGeom prst="rect">
            <a:avLst/>
          </a:prstGeom>
        </p:spPr>
        <p:txBody>
          <a:bodyPr/>
          <a:lstStyle/>
          <a:p>
            <a:pPr algn="r"/>
            <a:r>
              <a:rPr lang="en-US" dirty="0"/>
              <a:t>High-impact sales strategies</a:t>
            </a:r>
          </a:p>
        </p:txBody>
      </p:sp>
      <p:sp>
        <p:nvSpPr>
          <p:cNvPr id="8" name="Slide Number Placeholder 5">
            <a:extLst>
              <a:ext uri="{FF2B5EF4-FFF2-40B4-BE49-F238E27FC236}">
                <a16:creationId xmlns:a16="http://schemas.microsoft.com/office/drawing/2014/main" id="{6D0E7537-2C12-CB5F-D392-FB87F132E001}"/>
              </a:ext>
            </a:extLst>
          </p:cNvPr>
          <p:cNvSpPr>
            <a:spLocks noGrp="1"/>
          </p:cNvSpPr>
          <p:nvPr>
            <p:ph type="sldNum" sz="quarter" idx="12"/>
          </p:nvPr>
        </p:nvSpPr>
        <p:spPr>
          <a:xfrm>
            <a:off x="11282733" y="61164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49503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8720"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8720" y="4617138"/>
            <a:ext cx="7375466" cy="1014984"/>
          </a:xfrm>
        </p:spPr>
        <p:txBody>
          <a:bodyPr anchor="t">
            <a:normAutofit/>
          </a:bodyPr>
          <a:lstStyle>
            <a:lvl1pPr marL="0" indent="0" algn="l">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Footer Placeholder 4">
            <a:extLst>
              <a:ext uri="{FF2B5EF4-FFF2-40B4-BE49-F238E27FC236}">
                <a16:creationId xmlns:a16="http://schemas.microsoft.com/office/drawing/2014/main" id="{A684206B-A091-FAAB-1810-8A4E31158B63}"/>
              </a:ext>
            </a:extLst>
          </p:cNvPr>
          <p:cNvSpPr>
            <a:spLocks noGrp="1"/>
          </p:cNvSpPr>
          <p:nvPr>
            <p:ph type="ftr" sz="quarter" idx="11"/>
          </p:nvPr>
        </p:nvSpPr>
        <p:spPr>
          <a:xfrm>
            <a:off x="8735430" y="6114097"/>
            <a:ext cx="2447884" cy="365125"/>
          </a:xfrm>
          <a:prstGeom prst="rect">
            <a:avLst/>
          </a:prstGeom>
        </p:spPr>
        <p:txBody>
          <a:bodyPr/>
          <a:lstStyle/>
          <a:p>
            <a:pPr algn="r"/>
            <a:r>
              <a:rPr lang="en-US" dirty="0"/>
              <a:t>High-impact sales strategies</a:t>
            </a:r>
          </a:p>
        </p:txBody>
      </p:sp>
      <p:sp>
        <p:nvSpPr>
          <p:cNvPr id="8" name="Slide Number Placeholder 5">
            <a:extLst>
              <a:ext uri="{FF2B5EF4-FFF2-40B4-BE49-F238E27FC236}">
                <a16:creationId xmlns:a16="http://schemas.microsoft.com/office/drawing/2014/main" id="{DED49BAC-6341-EC82-7727-8195FC1B0E96}"/>
              </a:ext>
            </a:extLst>
          </p:cNvPr>
          <p:cNvSpPr>
            <a:spLocks noGrp="1"/>
          </p:cNvSpPr>
          <p:nvPr>
            <p:ph type="sldNum" sz="quarter" idx="12"/>
          </p:nvPr>
        </p:nvSpPr>
        <p:spPr>
          <a:xfrm>
            <a:off x="11282733" y="61164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51848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836415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8720" y="1486540"/>
            <a:ext cx="7538419" cy="4093526"/>
          </a:xfrm>
        </p:spPr>
        <p:txBody>
          <a:bodyPr anchor="ctr">
            <a:normAutofit/>
          </a:bodyPr>
          <a:lstStyle>
            <a:lvl1pPr algn="l">
              <a:defRPr sz="7400"/>
            </a:lvl1pPr>
          </a:lstStyle>
          <a:p>
            <a:r>
              <a:rPr lang="en-US"/>
              <a:t>Click to edit Master title style</a:t>
            </a:r>
            <a:endParaRPr lang="en-US" dirty="0"/>
          </a:p>
        </p:txBody>
      </p:sp>
    </p:spTree>
    <p:extLst>
      <p:ext uri="{BB962C8B-B14F-4D97-AF65-F5344CB8AC3E}">
        <p14:creationId xmlns:p14="http://schemas.microsoft.com/office/powerpoint/2010/main" val="16567730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905501" y="664108"/>
            <a:ext cx="4709488" cy="1084367"/>
          </a:xfrm>
        </p:spPr>
        <p:txBody>
          <a:bodyPr anchor="b">
            <a:noAutofit/>
          </a:bodyPr>
          <a:lstStyle>
            <a:lvl1pPr>
              <a:defRPr sz="5400"/>
            </a:lvl1pPr>
          </a:lstStyle>
          <a:p>
            <a:r>
              <a:rPr lang="en-US"/>
              <a:t>Click to edit Master title style</a:t>
            </a:r>
            <a:endParaRPr lang="en-US" dirty="0"/>
          </a:p>
        </p:txBody>
      </p:sp>
      <p:sp>
        <p:nvSpPr>
          <p:cNvPr id="14" name="Slide Number Placeholder 5">
            <a:extLst>
              <a:ext uri="{FF2B5EF4-FFF2-40B4-BE49-F238E27FC236}">
                <a16:creationId xmlns:a16="http://schemas.microsoft.com/office/drawing/2014/main" id="{AED8749C-9AC1-6ED0-7A37-C8CCB131453E}"/>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13" name="Footer Placeholder 4">
            <a:extLst>
              <a:ext uri="{FF2B5EF4-FFF2-40B4-BE49-F238E27FC236}">
                <a16:creationId xmlns:a16="http://schemas.microsoft.com/office/drawing/2014/main" id="{CF1387D1-15D1-CE52-9FAB-A4865E17332B}"/>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31" name="Picture Placeholder 30">
            <a:extLst>
              <a:ext uri="{FF2B5EF4-FFF2-40B4-BE49-F238E27FC236}">
                <a16:creationId xmlns:a16="http://schemas.microsoft.com/office/drawing/2014/main" id="{4DBE2974-CF8C-3529-125E-CE9BC87F5E78}"/>
              </a:ext>
            </a:extLst>
          </p:cNvPr>
          <p:cNvSpPr>
            <a:spLocks noGrp="1"/>
          </p:cNvSpPr>
          <p:nvPr>
            <p:ph type="pic" sz="quarter" idx="14"/>
          </p:nvPr>
        </p:nvSpPr>
        <p:spPr>
          <a:xfrm>
            <a:off x="1190627" y="0"/>
            <a:ext cx="3771898"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43095" y="2496190"/>
            <a:ext cx="3771894" cy="3726810"/>
          </a:xfrm>
        </p:spPr>
        <p:txBody>
          <a:bodyPr>
            <a:normAutofit/>
          </a:bodyPr>
          <a:lstStyle>
            <a:lvl1pPr marL="457200" indent="-457200">
              <a:buFont typeface="+mj-lt"/>
              <a:buAutoNum type="arabicPeriod"/>
              <a:defRPr sz="2400">
                <a:latin typeface="+mn-lt"/>
              </a:defRPr>
            </a:lvl1pPr>
            <a:lvl2pPr marL="685800" indent="-457200">
              <a:buFont typeface="+mj-lt"/>
              <a:buAutoNum type="arabicPeriod"/>
              <a:defRPr sz="2000">
                <a:latin typeface="+mn-lt"/>
              </a:defRPr>
            </a:lvl2pPr>
            <a:lvl3pPr marL="800100" indent="-342900">
              <a:buFont typeface="+mj-lt"/>
              <a:buAutoNum type="arabicPeriod"/>
              <a:defRPr sz="1800">
                <a:latin typeface="+mn-lt"/>
              </a:defRPr>
            </a:lvl3pPr>
            <a:lvl4pPr marL="1028700" indent="-342900">
              <a:buFont typeface="+mj-lt"/>
              <a:buAutoNum type="arabicPeriod"/>
              <a:defRPr sz="1600">
                <a:latin typeface="+mn-lt"/>
              </a:defRPr>
            </a:lvl4pPr>
            <a:lvl5pPr marL="1257300" indent="-342900">
              <a:buFont typeface="+mj-lt"/>
              <a:buAutoNum type="arabicPeriod"/>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2449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4456" y="664108"/>
            <a:ext cx="8467558" cy="1554480"/>
          </a:xfrm>
        </p:spPr>
        <p:txBody>
          <a:bodyPr anchor="b">
            <a:normAutofit/>
          </a:bodyPr>
          <a:lstStyle>
            <a:lvl1pPr>
              <a:defRPr sz="4400"/>
            </a:lvl1pPr>
          </a:lstStyle>
          <a:p>
            <a:r>
              <a:rPr lang="en-US"/>
              <a:t>Click to edit Master title style</a:t>
            </a:r>
            <a:endParaRPr lang="en-US" dirty="0"/>
          </a:p>
        </p:txBody>
      </p:sp>
      <p:sp>
        <p:nvSpPr>
          <p:cNvPr id="12" name="Slide Number Placeholder 5">
            <a:extLst>
              <a:ext uri="{FF2B5EF4-FFF2-40B4-BE49-F238E27FC236}">
                <a16:creationId xmlns:a16="http://schemas.microsoft.com/office/drawing/2014/main" id="{CCF3C31C-B978-2A3E-2C0C-FE528F7BF786}"/>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11" name="Footer Placeholder 4">
            <a:extLst>
              <a:ext uri="{FF2B5EF4-FFF2-40B4-BE49-F238E27FC236}">
                <a16:creationId xmlns:a16="http://schemas.microsoft.com/office/drawing/2014/main" id="{327845E8-CC34-D588-8989-5D98D1E40E7B}"/>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204456" y="2333860"/>
            <a:ext cx="8467558" cy="3689909"/>
          </a:xfrm>
        </p:spPr>
        <p:txBody>
          <a:bodyPr>
            <a:normAutofit/>
          </a:bodyPr>
          <a:lstStyle>
            <a:lvl1pPr marL="457200" indent="-457200">
              <a:buFont typeface="+mj-lt"/>
              <a:buAutoNum type="arabicPeriod"/>
              <a:defRPr sz="2400">
                <a:latin typeface="+mn-lt"/>
              </a:defRPr>
            </a:lvl1pPr>
            <a:lvl2pPr marL="685800" indent="-457200">
              <a:buFont typeface="+mj-lt"/>
              <a:buAutoNum type="arabicPeriod"/>
              <a:defRPr sz="2000">
                <a:latin typeface="+mn-lt"/>
              </a:defRPr>
            </a:lvl2pPr>
            <a:lvl3pPr marL="800100" indent="-342900">
              <a:buFont typeface="+mj-lt"/>
              <a:buAutoNum type="arabicPeriod"/>
              <a:defRPr sz="1800">
                <a:latin typeface="+mn-lt"/>
              </a:defRPr>
            </a:lvl3pPr>
            <a:lvl4pPr marL="1028700" indent="-342900">
              <a:buFont typeface="+mj-lt"/>
              <a:buAutoNum type="arabicPeriod"/>
              <a:defRPr sz="1600">
                <a:latin typeface="+mn-lt"/>
              </a:defRPr>
            </a:lvl4pPr>
            <a:lvl5pPr marL="1257300" indent="-342900">
              <a:buFont typeface="+mj-lt"/>
              <a:buAutoNum type="arabicPeriod"/>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98943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atin typeface="+mn-lt"/>
              </a:defRPr>
            </a:lvl1pPr>
            <a:lvl2pPr marL="571500" indent="-342900">
              <a:buFont typeface="+mj-lt"/>
              <a:buAutoNum type="arabicPeriod"/>
              <a:defRPr sz="1800">
                <a:latin typeface="+mn-lt"/>
              </a:defRPr>
            </a:lvl2pPr>
            <a:lvl3pPr marL="800100" indent="-342900">
              <a:buFont typeface="+mj-lt"/>
              <a:buAutoNum type="arabicPeriod"/>
              <a:defRPr sz="1600">
                <a:latin typeface="+mn-lt"/>
              </a:defRPr>
            </a:lvl3pPr>
            <a:lvl4pPr marL="1028700" indent="-342900">
              <a:buFont typeface="+mj-lt"/>
              <a:buAutoNum type="arabicPeriod"/>
              <a:defRPr sz="1400">
                <a:latin typeface="+mn-lt"/>
              </a:defRPr>
            </a:lvl4pPr>
            <a:lvl5pPr>
              <a:buFont typeface="+mj-lt"/>
              <a:buAutoNum type="arabicPeriod"/>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3B950D8-C96D-7764-78A3-3B6D396D9F26}"/>
              </a:ext>
            </a:extLst>
          </p:cNvPr>
          <p:cNvSpPr>
            <a:spLocks noGrp="1"/>
          </p:cNvSpPr>
          <p:nvPr>
            <p:ph type="dt" sz="half" idx="15"/>
          </p:nvPr>
        </p:nvSpPr>
        <p:spPr>
          <a:xfrm>
            <a:off x="6857999" y="6453002"/>
            <a:ext cx="2018521" cy="365125"/>
          </a:xfrm>
          <a:prstGeom prst="rect">
            <a:avLst/>
          </a:prstGeom>
        </p:spPr>
        <p:txBody>
          <a:bodyPr/>
          <a:lstStyle/>
          <a:p>
            <a:endParaRPr lang="en-US" dirty="0"/>
          </a:p>
        </p:txBody>
      </p:sp>
      <p:sp>
        <p:nvSpPr>
          <p:cNvPr id="6" name="Footer Placeholder 8">
            <a:extLst>
              <a:ext uri="{FF2B5EF4-FFF2-40B4-BE49-F238E27FC236}">
                <a16:creationId xmlns:a16="http://schemas.microsoft.com/office/drawing/2014/main" id="{787D348D-CA8C-5267-3202-652E1EF290A1}"/>
              </a:ext>
            </a:extLst>
          </p:cNvPr>
          <p:cNvSpPr>
            <a:spLocks noGrp="1"/>
          </p:cNvSpPr>
          <p:nvPr>
            <p:ph type="ftr" sz="quarter" idx="16"/>
          </p:nvPr>
        </p:nvSpPr>
        <p:spPr>
          <a:xfrm>
            <a:off x="9078330" y="6444297"/>
            <a:ext cx="2447884" cy="365125"/>
          </a:xfrm>
          <a:prstGeom prst="rect">
            <a:avLst/>
          </a:prstGeom>
        </p:spPr>
        <p:txBody>
          <a:bodyPr/>
          <a:lstStyle/>
          <a:p>
            <a:r>
              <a:rPr lang="en-US" dirty="0"/>
              <a:t>High-impact sales strategies</a:t>
            </a:r>
          </a:p>
        </p:txBody>
      </p:sp>
      <p:sp>
        <p:nvSpPr>
          <p:cNvPr id="9" name="Slide Number Placeholder 9">
            <a:extLst>
              <a:ext uri="{FF2B5EF4-FFF2-40B4-BE49-F238E27FC236}">
                <a16:creationId xmlns:a16="http://schemas.microsoft.com/office/drawing/2014/main" id="{584AB7CA-D5BB-9E83-EEE0-B88D781EC7D2}"/>
              </a:ext>
            </a:extLst>
          </p:cNvPr>
          <p:cNvSpPr>
            <a:spLocks noGrp="1"/>
          </p:cNvSpPr>
          <p:nvPr>
            <p:ph type="sldNum" sz="quarter" idx="17"/>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99056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1980306"/>
            <a:ext cx="4325112" cy="2897389"/>
          </a:xfrm>
        </p:spPr>
        <p:txBody>
          <a:bodyPr>
            <a:norm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1977390"/>
            <a:ext cx="4325112" cy="2903220"/>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53118E2B-3207-A8F3-F93D-FB277EF9F1F1}"/>
              </a:ext>
            </a:extLst>
          </p:cNvPr>
          <p:cNvSpPr>
            <a:spLocks noGrp="1"/>
          </p:cNvSpPr>
          <p:nvPr>
            <p:ph type="ftr" sz="quarter" idx="11"/>
          </p:nvPr>
        </p:nvSpPr>
        <p:spPr>
          <a:xfrm>
            <a:off x="8735430" y="6114097"/>
            <a:ext cx="2447884" cy="365125"/>
          </a:xfrm>
          <a:prstGeom prst="rect">
            <a:avLst/>
          </a:prstGeom>
        </p:spPr>
        <p:txBody>
          <a:bodyPr/>
          <a:lstStyle/>
          <a:p>
            <a:pPr algn="r"/>
            <a:r>
              <a:rPr lang="en-US" dirty="0"/>
              <a:t>High-impact sales strategies</a:t>
            </a:r>
          </a:p>
        </p:txBody>
      </p:sp>
      <p:sp>
        <p:nvSpPr>
          <p:cNvPr id="7" name="Slide Number Placeholder 5">
            <a:extLst>
              <a:ext uri="{FF2B5EF4-FFF2-40B4-BE49-F238E27FC236}">
                <a16:creationId xmlns:a16="http://schemas.microsoft.com/office/drawing/2014/main" id="{97B1990C-61FE-5E87-CFC8-B233DDA67EC5}"/>
              </a:ext>
            </a:extLst>
          </p:cNvPr>
          <p:cNvSpPr>
            <a:spLocks noGrp="1"/>
          </p:cNvSpPr>
          <p:nvPr>
            <p:ph type="sldNum" sz="quarter" idx="12"/>
          </p:nvPr>
        </p:nvSpPr>
        <p:spPr>
          <a:xfrm>
            <a:off x="11282733" y="61164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25115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88720" y="2258568"/>
            <a:ext cx="4392739" cy="3557016"/>
          </a:xfrm>
        </p:spPr>
        <p:txBody>
          <a:bodyPr>
            <a:norm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976938" y="2254250"/>
            <a:ext cx="4956175" cy="3556000"/>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81524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502845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315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86910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817135"/>
            <a:ext cx="6093225" cy="1552062"/>
          </a:xfrm>
        </p:spPr>
        <p:txBody>
          <a:bodyPr anchor="b"/>
          <a:lstStyle/>
          <a:p>
            <a:r>
              <a:rPr lang="en-US"/>
              <a:t>Click to edit Master title style</a:t>
            </a:r>
            <a:endParaRPr lang="en-US" dirty="0"/>
          </a:p>
        </p:txBody>
      </p:sp>
      <p:sp>
        <p:nvSpPr>
          <p:cNvPr id="7" name="Slide Number Placeholder 5">
            <a:extLst>
              <a:ext uri="{FF2B5EF4-FFF2-40B4-BE49-F238E27FC236}">
                <a16:creationId xmlns:a16="http://schemas.microsoft.com/office/drawing/2014/main" id="{9872EB54-4BF3-F4CA-BD72-778CFF4F6214}"/>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6" name="Footer Placeholder 4">
            <a:extLst>
              <a:ext uri="{FF2B5EF4-FFF2-40B4-BE49-F238E27FC236}">
                <a16:creationId xmlns:a16="http://schemas.microsoft.com/office/drawing/2014/main" id="{345BE8C4-642B-4971-3DE8-AACF107D6F86}"/>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247777" y="0"/>
            <a:ext cx="3603258"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2591701"/>
            <a:ext cx="6071616" cy="3726803"/>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58642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06424" y="548640"/>
            <a:ext cx="6135624" cy="1143000"/>
          </a:xfrm>
        </p:spPr>
        <p:txBody>
          <a:bodyPr anchor="b"/>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C6F02DED-2B3A-CE39-E69D-F3836ED17C1D}"/>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0BC2E5BD-9CFA-C31D-4BFA-0AE8D7FC15B1}"/>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06424" y="1828800"/>
            <a:ext cx="6135624" cy="4489704"/>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897586" y="0"/>
            <a:ext cx="4294414"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3550318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a:prstGeom prst="rect">
            <a:avLst/>
          </a:prstGeom>
        </p:spPr>
        <p:txBody>
          <a:bodyPr/>
          <a:lstStyle/>
          <a:p>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9078330" y="6444297"/>
            <a:ext cx="2447884" cy="365125"/>
          </a:xfrm>
          <a:prstGeom prst="rect">
            <a:avLst/>
          </a:prstGeom>
        </p:spPr>
        <p:txBody>
          <a:bodyPr/>
          <a:lstStyle/>
          <a:p>
            <a:r>
              <a:rPr lang="en-US" dirty="0"/>
              <a:t>High-impact sales strategies</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7391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37160" y="6453002"/>
            <a:ext cx="3494314" cy="365125"/>
          </a:xfrm>
          <a:prstGeom prst="rect">
            <a:avLst/>
          </a:prstGeom>
        </p:spPr>
        <p:txBody>
          <a:bodyPr/>
          <a:lstStyle/>
          <a:p>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a:prstGeom prst="rect">
            <a:avLst/>
          </a:prstGeom>
        </p:spPr>
        <p:txBody>
          <a:bodyPr/>
          <a:lstStyle/>
          <a:p>
            <a:r>
              <a:rPr lang="en-US" dirty="0"/>
              <a:t>High-impact sales strategies</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a:prstGeom prst="rect">
            <a:avLst/>
          </a:prstGeo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9914465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a:prstGeom prst="rect">
            <a:avLst/>
          </a:prstGeom>
        </p:spPr>
        <p:txBody>
          <a:bodyPr/>
          <a:lstStyle>
            <a:lvl1pPr>
              <a:defRPr>
                <a:solidFill>
                  <a:schemeClr val="tx1"/>
                </a:solidFill>
                <a:effectLst/>
              </a:defRPr>
            </a:lvl1p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42225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a:prstGeom prst="rect">
            <a:avLst/>
          </a:prstGeom>
        </p:spPr>
        <p:txBody>
          <a:bodyPr/>
          <a:lstStyle>
            <a:lvl1pPr>
              <a:defRPr>
                <a:solidFill>
                  <a:schemeClr val="tx1"/>
                </a:solidFill>
                <a:effectLst/>
              </a:defRPr>
            </a:lvl1p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211840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a:prstGeom prst="rect">
            <a:avLst/>
          </a:prstGeom>
        </p:spPr>
        <p:txBody>
          <a:bodyPr/>
          <a:lstStyle>
            <a:lvl1pPr>
              <a:defRPr>
                <a:solidFill>
                  <a:schemeClr val="tx1"/>
                </a:solidFill>
                <a:effectLst/>
              </a:defRPr>
            </a:lvl1p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5545586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a:prstGeom prst="rect">
            <a:avLst/>
          </a:prstGeom>
        </p:spPr>
        <p:txBody>
          <a:bodyPr/>
          <a:lstStyle>
            <a:lvl1pPr>
              <a:defRPr>
                <a:solidFill>
                  <a:schemeClr val="tx1"/>
                </a:solidFill>
                <a:effectLst/>
              </a:defRPr>
            </a:lvl1p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5683729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a:prstGeom prst="rect">
            <a:avLst/>
          </a:prstGeom>
        </p:spPr>
        <p:txBody>
          <a:bodyPr/>
          <a:lstStyle/>
          <a:p>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a:prstGeom prst="rect">
            <a:avLst/>
          </a:prstGeom>
        </p:spPr>
        <p:txBody>
          <a:bodyPr/>
          <a:lstStyle/>
          <a:p>
            <a:r>
              <a:rPr lang="en-US" dirty="0"/>
              <a:t>High-impact sales strategies</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711782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21320" y="583413"/>
            <a:ext cx="3401568" cy="1527048"/>
          </a:xfrm>
        </p:spPr>
        <p:txBody>
          <a:bodyPr anchor="b">
            <a:noAutofit/>
          </a:bodyPr>
          <a:lstStyle>
            <a:lvl1pPr>
              <a:defRPr sz="5400"/>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700F3212-B4E4-E3B9-9E46-A7D8520BE5DE}"/>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4" name="Footer Placeholder 4">
            <a:extLst>
              <a:ext uri="{FF2B5EF4-FFF2-40B4-BE49-F238E27FC236}">
                <a16:creationId xmlns:a16="http://schemas.microsoft.com/office/drawing/2014/main" id="{A9E47A45-AD40-CAFD-19C3-9B14080FB965}"/>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188720" y="0"/>
            <a:ext cx="6065013"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21320" y="2212975"/>
            <a:ext cx="3401568" cy="4095750"/>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63180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atin typeface="+mn-lt"/>
              </a:defRPr>
            </a:lvl1pPr>
            <a:lvl2pPr marL="228600" indent="0">
              <a:buNone/>
              <a:defRPr sz="1400">
                <a:latin typeface="+mn-lt"/>
              </a:defRPr>
            </a:lvl2pPr>
            <a:lvl3pPr marL="457200" indent="0">
              <a:buNone/>
              <a:defRPr sz="1200">
                <a:latin typeface="+mn-lt"/>
              </a:defRPr>
            </a:lvl3pPr>
            <a:lvl4pPr marL="685800" indent="0">
              <a:buNone/>
              <a:defRPr sz="1100">
                <a:latin typeface="+mn-lt"/>
              </a:defRPr>
            </a:lvl4pPr>
            <a:lvl5pPr marL="914400" indent="0">
              <a:buNone/>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a:prstGeom prst="rect">
            <a:avLst/>
          </a:prstGeom>
        </p:spPr>
        <p:txBody>
          <a:bodyPr/>
          <a:lstStyle>
            <a:lvl1pPr>
              <a:defRPr>
                <a:solidFill>
                  <a:schemeClr val="tx1"/>
                </a:solidFill>
                <a:effectLst/>
              </a:defRPr>
            </a:lvl1p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042714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atin typeface="+mn-lt"/>
              </a:defRPr>
            </a:lvl1pPr>
            <a:lvl2pPr marL="228600" indent="0">
              <a:buFont typeface="Arial" panose="020B0604020202020204" pitchFamily="34" charset="0"/>
              <a:buNone/>
              <a:defRPr sz="1400">
                <a:latin typeface="+mn-lt"/>
              </a:defRPr>
            </a:lvl2pPr>
            <a:lvl3pPr marL="457200" indent="0">
              <a:buFont typeface="Arial" panose="020B0604020202020204" pitchFamily="34" charset="0"/>
              <a:buNone/>
              <a:defRPr sz="1200">
                <a:latin typeface="+mn-lt"/>
              </a:defRPr>
            </a:lvl3pPr>
            <a:lvl4pPr marL="685800" indent="0">
              <a:buFont typeface="Arial" panose="020B0604020202020204" pitchFamily="34" charset="0"/>
              <a:buNone/>
              <a:defRPr sz="1100">
                <a:latin typeface="+mn-lt"/>
              </a:defRPr>
            </a:lvl4pPr>
            <a:lvl5pPr marL="914400" indent="0">
              <a:buFont typeface="Arial" panose="020B0604020202020204" pitchFamily="34" charset="0"/>
              <a:buNone/>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18926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atin typeface="+mn-lt"/>
              </a:defRPr>
            </a:lvl1pPr>
            <a:lvl2pPr marL="514350" indent="-285750">
              <a:buFont typeface="Arial" panose="020B0604020202020204" pitchFamily="34" charset="0"/>
              <a:buChar char="•"/>
              <a:defRPr sz="1600">
                <a:latin typeface="+mn-lt"/>
              </a:defRPr>
            </a:lvl2pPr>
            <a:lvl3pPr marL="742950" indent="-285750">
              <a:buFont typeface="Arial" panose="020B0604020202020204" pitchFamily="34" charset="0"/>
              <a:buChar char="•"/>
              <a:defRPr sz="1400">
                <a:latin typeface="+mn-lt"/>
              </a:defRPr>
            </a:lvl3pPr>
            <a:lvl4pPr marL="857250" indent="-171450">
              <a:buFont typeface="Arial" panose="020B0604020202020204" pitchFamily="34" charset="0"/>
              <a:buChar char="•"/>
              <a:defRPr sz="1200">
                <a:latin typeface="+mn-lt"/>
              </a:defRPr>
            </a:lvl4pPr>
            <a:lvl5pPr marL="1085850" indent="-171450">
              <a:buFont typeface="Arial" panose="020B0604020202020204" pitchFamily="34" charset="0"/>
              <a:buChar char="•"/>
              <a:defRPr sz="11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67100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atin typeface="+mn-lt"/>
              </a:defRPr>
            </a:lvl1pPr>
            <a:lvl2pPr marL="514350" indent="-285750">
              <a:buFont typeface="Arial" panose="020B0604020202020204" pitchFamily="34" charset="0"/>
              <a:buChar char="•"/>
              <a:defRPr sz="1600">
                <a:latin typeface="+mn-lt"/>
              </a:defRPr>
            </a:lvl2pPr>
            <a:lvl3pPr marL="742950" indent="-285750">
              <a:buFont typeface="Arial" panose="020B0604020202020204" pitchFamily="34" charset="0"/>
              <a:buChar char="•"/>
              <a:defRPr sz="1400">
                <a:latin typeface="+mn-lt"/>
              </a:defRPr>
            </a:lvl3pPr>
            <a:lvl4pPr marL="857250" indent="-171450">
              <a:buFont typeface="Arial" panose="020B0604020202020204" pitchFamily="34" charset="0"/>
              <a:buChar char="•"/>
              <a:defRPr sz="1200">
                <a:latin typeface="+mn-lt"/>
              </a:defRPr>
            </a:lvl4pPr>
            <a:lvl5pPr marL="1085850" indent="-171450">
              <a:buFont typeface="Arial" panose="020B0604020202020204" pitchFamily="34" charset="0"/>
              <a:buChar char="•"/>
              <a:defRPr sz="11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5442348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88720" y="881063"/>
            <a:ext cx="10390634" cy="867412"/>
          </a:xfrm>
        </p:spPr>
        <p:txBody>
          <a:bodyPr lIns="0" anchor="ctr">
            <a:normAutofit/>
          </a:bodyPr>
          <a:lstStyle>
            <a:lvl1pPr>
              <a:defRPr sz="5400"/>
            </a:lvl1pPr>
          </a:lstStyle>
          <a:p>
            <a:r>
              <a:rPr lang="en-US"/>
              <a:t>Click to edit Master title style</a:t>
            </a:r>
            <a:endParaRPr lang="en-US" dirty="0"/>
          </a:p>
        </p:txBody>
      </p:sp>
      <p:sp>
        <p:nvSpPr>
          <p:cNvPr id="4" name="Slide Number Placeholder 5">
            <a:extLst>
              <a:ext uri="{FF2B5EF4-FFF2-40B4-BE49-F238E27FC236}">
                <a16:creationId xmlns:a16="http://schemas.microsoft.com/office/drawing/2014/main" id="{3321CAEA-3EF9-812B-1AB0-5BBC156C504D}"/>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3" name="Footer Placeholder 4">
            <a:extLst>
              <a:ext uri="{FF2B5EF4-FFF2-40B4-BE49-F238E27FC236}">
                <a16:creationId xmlns:a16="http://schemas.microsoft.com/office/drawing/2014/main" id="{05E2B1AA-F7E0-09F3-3E5E-27536C31269B}"/>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188720" y="2129474"/>
            <a:ext cx="2807535" cy="3727767"/>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4962527" y="2129475"/>
            <a:ext cx="6616828" cy="372776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83161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248068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2023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06424" y="4363452"/>
            <a:ext cx="8472722" cy="1708165"/>
          </a:xfrm>
        </p:spPr>
        <p:txBody>
          <a:bodyPr>
            <a:normAutofit/>
          </a:bodyPr>
          <a:lstStyle>
            <a:lvl1pPr>
              <a:lnSpc>
                <a:spcPct val="80000"/>
              </a:lnSpc>
              <a:defRPr sz="4800" b="0">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06424" y="595481"/>
            <a:ext cx="10250214" cy="3767971"/>
          </a:xfrm>
        </p:spPr>
        <p:txBody>
          <a:bodyPr anchor="b">
            <a:noAutofit/>
          </a:bodyPr>
          <a:lstStyle>
            <a:lvl1pPr marL="0" indent="0">
              <a:lnSpc>
                <a:spcPct val="90000"/>
              </a:lnSpc>
              <a:spcBef>
                <a:spcPts val="0"/>
              </a:spcBef>
              <a:buNone/>
              <a:defRPr sz="250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84984816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80000"/>
              </a:lnSpc>
              <a:defRPr sz="2800" b="0">
                <a:solidFill>
                  <a:schemeClr val="accent1">
                    <a:lumMod val="75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Tree>
    <p:extLst>
      <p:ext uri="{BB962C8B-B14F-4D97-AF65-F5344CB8AC3E}">
        <p14:creationId xmlns:p14="http://schemas.microsoft.com/office/powerpoint/2010/main" val="21440418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80000"/>
              </a:lnSpc>
              <a:defRPr sz="2800" b="0">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Tree>
    <p:extLst>
      <p:ext uri="{BB962C8B-B14F-4D97-AF65-F5344CB8AC3E}">
        <p14:creationId xmlns:p14="http://schemas.microsoft.com/office/powerpoint/2010/main" val="2567145858"/>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06424"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70203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00684" y="626364"/>
            <a:ext cx="10076688" cy="5605272"/>
          </a:xfrm>
        </p:spPr>
        <p:txBody>
          <a:bodyPr anchor="ctr">
            <a:noAutofit/>
          </a:bodyPr>
          <a:lstStyle>
            <a:lvl1pPr marL="0" indent="0" algn="ctr">
              <a:lnSpc>
                <a:spcPct val="100000"/>
              </a:lnSpc>
              <a:buNone/>
              <a:defRPr sz="5000" b="1"/>
            </a:lvl1pPr>
            <a:lvl2pPr marL="228600" indent="0" algn="ctr">
              <a:lnSpc>
                <a:spcPct val="100000"/>
              </a:lnSpc>
              <a:buNone/>
              <a:defRPr sz="4400" b="1"/>
            </a:lvl2pPr>
            <a:lvl3pPr marL="457200" indent="0" algn="ctr">
              <a:lnSpc>
                <a:spcPct val="100000"/>
              </a:lnSpc>
              <a:buNone/>
              <a:defRPr sz="4000" b="1"/>
            </a:lvl3pPr>
            <a:lvl4pPr marL="685800" indent="0" algn="ctr">
              <a:lnSpc>
                <a:spcPct val="100000"/>
              </a:lnSpc>
              <a:buNone/>
              <a:defRPr sz="3600" b="1"/>
            </a:lvl4pPr>
            <a:lvl5pPr marL="914400" indent="0" algn="ctr">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156470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966982"/>
            <a:ext cx="9504273" cy="466344"/>
          </a:xfrm>
        </p:spPr>
        <p:txBody>
          <a:bodyPr anchor="ctr">
            <a:normAutofit/>
          </a:bodyPr>
          <a:lstStyle>
            <a:lvl1pPr>
              <a:lnSpc>
                <a:spcPct val="120000"/>
              </a:lnSpc>
              <a:defRPr sz="2000" b="1">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025650" y="1682749"/>
            <a:ext cx="8678773" cy="4008581"/>
          </a:xfrm>
        </p:spPr>
        <p:txBody>
          <a:bodyPr anchor="t">
            <a:normAutofit/>
          </a:bodyPr>
          <a:lstStyle>
            <a:lvl1pPr marL="164592" indent="-164592">
              <a:lnSpc>
                <a:spcPct val="100000"/>
              </a:lnSpc>
              <a:spcBef>
                <a:spcPts val="0"/>
              </a:spcBef>
              <a:buNone/>
              <a:defRPr sz="7200">
                <a:latin typeface="+mj-lt"/>
              </a:defRPr>
            </a:lvl1pPr>
          </a:lstStyle>
          <a:p>
            <a:pPr lvl="0"/>
            <a:r>
              <a:rPr lang="en-US" dirty="0"/>
              <a:t>Click to add Quote</a:t>
            </a:r>
          </a:p>
        </p:txBody>
      </p:sp>
    </p:spTree>
    <p:extLst>
      <p:ext uri="{BB962C8B-B14F-4D97-AF65-F5344CB8AC3E}">
        <p14:creationId xmlns:p14="http://schemas.microsoft.com/office/powerpoint/2010/main" val="65788892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88720"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add Quote</a:t>
            </a:r>
          </a:p>
        </p:txBody>
      </p:sp>
    </p:spTree>
    <p:extLst>
      <p:ext uri="{BB962C8B-B14F-4D97-AF65-F5344CB8AC3E}">
        <p14:creationId xmlns:p14="http://schemas.microsoft.com/office/powerpoint/2010/main" val="106184038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61872"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88720"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Tree>
    <p:extLst>
      <p:ext uri="{BB962C8B-B14F-4D97-AF65-F5344CB8AC3E}">
        <p14:creationId xmlns:p14="http://schemas.microsoft.com/office/powerpoint/2010/main" val="7423838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334D4D9-458A-1DDD-2EE3-FE2BA24AE522}"/>
              </a:ext>
            </a:extLst>
          </p:cNvPr>
          <p:cNvSpPr>
            <a:spLocks noGrp="1"/>
          </p:cNvSpPr>
          <p:nvPr>
            <p:ph type="title"/>
          </p:nvPr>
        </p:nvSpPr>
        <p:spPr>
          <a:xfrm>
            <a:off x="1188720" y="881063"/>
            <a:ext cx="10390634" cy="867412"/>
          </a:xfrm>
        </p:spPr>
        <p:txBody>
          <a:bodyPr lIns="0" anchor="ctr">
            <a:normAutofit/>
          </a:bodyPr>
          <a:lstStyle>
            <a:lvl1pPr>
              <a:defRPr sz="5400"/>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1188720" y="1963560"/>
            <a:ext cx="5022760" cy="3922890"/>
          </a:xfrm>
        </p:spPr>
        <p:txBody>
          <a:bodyPr/>
          <a:lstStyle>
            <a:lvl1pPr marL="0" indent="0">
              <a:buNone/>
              <a:defRPr i="0">
                <a:latin typeface="+mn-lt"/>
              </a:defRPr>
            </a:lvl1pPr>
            <a:lvl2pPr marL="228600" indent="0">
              <a:buNone/>
              <a:defRPr i="0">
                <a:latin typeface="+mn-lt"/>
              </a:defRPr>
            </a:lvl2pPr>
            <a:lvl3pPr marL="457200" indent="0">
              <a:buNone/>
              <a:defRPr i="0">
                <a:latin typeface="+mn-lt"/>
              </a:defRPr>
            </a:lvl3pPr>
            <a:lvl4pPr marL="685800" indent="0">
              <a:buNone/>
              <a:defRPr i="0">
                <a:latin typeface="+mn-lt"/>
              </a:defRPr>
            </a:lvl4pPr>
            <a:lvl5pPr marL="914400" indent="0">
              <a:buNone/>
              <a:defRPr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556594" y="1963560"/>
            <a:ext cx="5022760" cy="3922890"/>
          </a:xfrm>
        </p:spPr>
        <p:txBody>
          <a:bodyPr/>
          <a:lstStyle>
            <a:lvl1pPr marL="0" indent="0">
              <a:buNone/>
              <a:defRPr i="0">
                <a:latin typeface="+mn-lt"/>
              </a:defRPr>
            </a:lvl1pPr>
            <a:lvl2pPr marL="228600" indent="0">
              <a:buNone/>
              <a:defRPr i="0">
                <a:latin typeface="+mn-lt"/>
              </a:defRPr>
            </a:lvl2pPr>
            <a:lvl3pPr marL="457200" indent="0">
              <a:buNone/>
              <a:defRPr i="0">
                <a:latin typeface="+mn-lt"/>
              </a:defRPr>
            </a:lvl3pPr>
            <a:lvl4pPr marL="685800" indent="0">
              <a:buNone/>
              <a:defRPr i="0">
                <a:latin typeface="+mn-lt"/>
              </a:defRPr>
            </a:lvl4pPr>
            <a:lvl5pPr marL="914400" indent="0">
              <a:buNone/>
              <a:defRPr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35E9F63-2F62-D92D-A7ED-F3C3C35804B3}"/>
              </a:ext>
            </a:extLst>
          </p:cNvPr>
          <p:cNvSpPr>
            <a:spLocks noGrp="1"/>
          </p:cNvSpPr>
          <p:nvPr>
            <p:ph type="ftr" sz="quarter" idx="11"/>
          </p:nvPr>
        </p:nvSpPr>
        <p:spPr>
          <a:xfrm>
            <a:off x="8735430" y="6114097"/>
            <a:ext cx="2447884" cy="365125"/>
          </a:xfrm>
          <a:prstGeom prst="rect">
            <a:avLst/>
          </a:prstGeom>
        </p:spPr>
        <p:txBody>
          <a:bodyPr/>
          <a:lstStyle/>
          <a:p>
            <a:pPr algn="r"/>
            <a:r>
              <a:rPr lang="en-US" dirty="0"/>
              <a:t>High-impact sales strategies</a:t>
            </a:r>
          </a:p>
        </p:txBody>
      </p:sp>
      <p:sp>
        <p:nvSpPr>
          <p:cNvPr id="6" name="Slide Number Placeholder 5">
            <a:extLst>
              <a:ext uri="{FF2B5EF4-FFF2-40B4-BE49-F238E27FC236}">
                <a16:creationId xmlns:a16="http://schemas.microsoft.com/office/drawing/2014/main" id="{6F602E2C-2152-4E92-9C3B-6CDEE5716096}"/>
              </a:ext>
            </a:extLst>
          </p:cNvPr>
          <p:cNvSpPr>
            <a:spLocks noGrp="1"/>
          </p:cNvSpPr>
          <p:nvPr>
            <p:ph type="sldNum" sz="quarter" idx="12"/>
          </p:nvPr>
        </p:nvSpPr>
        <p:spPr>
          <a:xfrm>
            <a:off x="11282733" y="61164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55254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23218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983596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47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atin typeface="+mn-lt"/>
              </a:defRPr>
            </a:lvl1pPr>
            <a:lvl2pPr>
              <a:defRPr sz="2400">
                <a:latin typeface="+mn-lt"/>
              </a:defRPr>
            </a:lvl2pPr>
            <a:lvl3pPr>
              <a:defRPr sz="2000">
                <a:latin typeface="+mn-lt"/>
              </a:defRPr>
            </a:lvl3pPr>
            <a:lvl4pPr>
              <a:defRPr sz="1800">
                <a:latin typeface="+mn-lt"/>
              </a:defRPr>
            </a:lvl4pPr>
            <a:lvl5pPr>
              <a:defRPr sz="18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9078330" y="6444297"/>
            <a:ext cx="2447884" cy="365125"/>
          </a:xfrm>
          <a:prstGeom prst="rect">
            <a:avLst/>
          </a:prstGeom>
        </p:spPr>
        <p:txBody>
          <a:bodyPr/>
          <a:lstStyle/>
          <a:p>
            <a:r>
              <a:rPr lang="en-US" dirty="0"/>
              <a:t>High-impact sales strategies</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625633" y="64466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276713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188720" y="933449"/>
            <a:ext cx="3598681" cy="2071689"/>
          </a:xfrm>
        </p:spPr>
        <p:txBody>
          <a:bodyPr anchor="t">
            <a:norm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188720" y="3128963"/>
            <a:ext cx="3585586" cy="3131812"/>
          </a:xfrm>
        </p:spPr>
        <p:txBody>
          <a:bodyPr anchor="b">
            <a:normAutofit/>
          </a:bodyPr>
          <a:lstStyle>
            <a:lvl1pPr marL="0" indent="0">
              <a:buNone/>
              <a:defRPr sz="18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976120" y="0"/>
            <a:ext cx="502525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137160" y="6453002"/>
            <a:ext cx="3494314" cy="365125"/>
          </a:xfrm>
          <a:prstGeom prst="rect">
            <a:avLst/>
          </a:prstGeom>
        </p:spPr>
        <p:txBody>
          <a:bodyPr/>
          <a:lstStyle/>
          <a:p>
            <a:endParaRPr lang="en-US" dirty="0"/>
          </a:p>
        </p:txBody>
      </p:sp>
    </p:spTree>
    <p:extLst>
      <p:ext uri="{BB962C8B-B14F-4D97-AF65-F5344CB8AC3E}">
        <p14:creationId xmlns:p14="http://schemas.microsoft.com/office/powerpoint/2010/main" val="27045497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88720" y="1269238"/>
            <a:ext cx="7342307" cy="1133856"/>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188721" y="2793047"/>
            <a:ext cx="9814559" cy="2648903"/>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83A495-2561-C749-EF2D-0C81822834A6}"/>
              </a:ext>
            </a:extLst>
          </p:cNvPr>
          <p:cNvSpPr>
            <a:spLocks noGrp="1"/>
          </p:cNvSpPr>
          <p:nvPr>
            <p:ph type="ftr" sz="quarter" idx="11"/>
          </p:nvPr>
        </p:nvSpPr>
        <p:spPr>
          <a:xfrm>
            <a:off x="8735430" y="6114097"/>
            <a:ext cx="2447884" cy="365125"/>
          </a:xfrm>
          <a:prstGeom prst="rect">
            <a:avLst/>
          </a:prstGeom>
        </p:spPr>
        <p:txBody>
          <a:bodyPr/>
          <a:lstStyle/>
          <a:p>
            <a:pPr algn="r"/>
            <a:r>
              <a:rPr lang="en-US" dirty="0"/>
              <a:t>High-impact sales strategies</a:t>
            </a:r>
          </a:p>
        </p:txBody>
      </p:sp>
      <p:sp>
        <p:nvSpPr>
          <p:cNvPr id="6" name="Slide Number Placeholder 5">
            <a:extLst>
              <a:ext uri="{FF2B5EF4-FFF2-40B4-BE49-F238E27FC236}">
                <a16:creationId xmlns:a16="http://schemas.microsoft.com/office/drawing/2014/main" id="{D9FBD51F-4826-9564-5FA6-FD706B81E1B1}"/>
              </a:ext>
            </a:extLst>
          </p:cNvPr>
          <p:cNvSpPr>
            <a:spLocks noGrp="1"/>
          </p:cNvSpPr>
          <p:nvPr>
            <p:ph type="sldNum" sz="quarter" idx="12"/>
          </p:nvPr>
        </p:nvSpPr>
        <p:spPr>
          <a:xfrm>
            <a:off x="11282733" y="61164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2539673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88720" y="1627318"/>
            <a:ext cx="8430767"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188720" y="3622674"/>
            <a:ext cx="8430639" cy="1279615"/>
          </a:xfrm>
        </p:spPr>
        <p:txBody>
          <a:bodyPr>
            <a:noAutofit/>
          </a:bodyPr>
          <a:lstStyle>
            <a:lvl1pPr marL="0" indent="0">
              <a:buNone/>
              <a:defRPr sz="2400">
                <a:latin typeface="+mn-lt"/>
              </a:defRPr>
            </a:lvl1pPr>
            <a:lvl2pPr marL="228600" indent="0">
              <a:buNone/>
              <a:defRPr sz="2000">
                <a:latin typeface="+mn-lt"/>
              </a:defRPr>
            </a:lvl2pPr>
            <a:lvl3pPr marL="457200" indent="0">
              <a:buNone/>
              <a:defRPr sz="1800">
                <a:latin typeface="+mn-lt"/>
              </a:defRPr>
            </a:lvl3pPr>
            <a:lvl4pPr marL="685800" indent="0">
              <a:buNone/>
              <a:defRPr sz="1600">
                <a:latin typeface="+mn-lt"/>
              </a:defRPr>
            </a:lvl4pPr>
            <a:lvl5pPr marL="9144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06253063-A540-CA3E-5B9D-28F197AC2560}"/>
              </a:ext>
            </a:extLst>
          </p:cNvPr>
          <p:cNvSpPr>
            <a:spLocks noGrp="1"/>
          </p:cNvSpPr>
          <p:nvPr>
            <p:ph type="ftr" sz="quarter" idx="11"/>
          </p:nvPr>
        </p:nvSpPr>
        <p:spPr>
          <a:xfrm>
            <a:off x="8735430" y="6114097"/>
            <a:ext cx="2447884" cy="365125"/>
          </a:xfrm>
          <a:prstGeom prst="rect">
            <a:avLst/>
          </a:prstGeom>
        </p:spPr>
        <p:txBody>
          <a:bodyPr/>
          <a:lstStyle/>
          <a:p>
            <a:pPr algn="r"/>
            <a:r>
              <a:rPr lang="en-US" dirty="0"/>
              <a:t>High-impact sales strategies</a:t>
            </a:r>
          </a:p>
        </p:txBody>
      </p:sp>
      <p:sp>
        <p:nvSpPr>
          <p:cNvPr id="8" name="Slide Number Placeholder 5">
            <a:extLst>
              <a:ext uri="{FF2B5EF4-FFF2-40B4-BE49-F238E27FC236}">
                <a16:creationId xmlns:a16="http://schemas.microsoft.com/office/drawing/2014/main" id="{5316A193-DEF8-A035-8A9F-81AB07EBA717}"/>
              </a:ext>
            </a:extLst>
          </p:cNvPr>
          <p:cNvSpPr>
            <a:spLocks noGrp="1"/>
          </p:cNvSpPr>
          <p:nvPr>
            <p:ph type="sldNum" sz="quarter" idx="12"/>
          </p:nvPr>
        </p:nvSpPr>
        <p:spPr>
          <a:xfrm>
            <a:off x="11282733" y="61164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0879692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69211"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69211" y="1715532"/>
            <a:ext cx="10653579" cy="422806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oup 6" hidden="1">
            <a:extLst>
              <a:ext uri="{FF2B5EF4-FFF2-40B4-BE49-F238E27FC236}">
                <a16:creationId xmlns:a16="http://schemas.microsoft.com/office/drawing/2014/main" id="{5E62CEC1-6755-5D17-E4DD-EA2F1FD903D6}"/>
              </a:ext>
            </a:extLst>
          </p:cNvPr>
          <p:cNvGrpSpPr/>
          <p:nvPr/>
        </p:nvGrpSpPr>
        <p:grpSpPr>
          <a:xfrm>
            <a:off x="1" y="0"/>
            <a:ext cx="12191999" cy="6858000"/>
            <a:chOff x="-1" y="0"/>
            <a:chExt cx="12191999" cy="6858000"/>
          </a:xfrm>
        </p:grpSpPr>
        <p:sp>
          <p:nvSpPr>
            <p:cNvPr id="8" name="Rectangle 7">
              <a:extLst>
                <a:ext uri="{FF2B5EF4-FFF2-40B4-BE49-F238E27FC236}">
                  <a16:creationId xmlns:a16="http://schemas.microsoft.com/office/drawing/2014/main" id="{FBA8C55C-0A2D-3C60-D737-6705E87454EC}"/>
                </a:ext>
              </a:extLst>
            </p:cNvPr>
            <p:cNvSpPr/>
            <p:nvPr/>
          </p:nvSpPr>
          <p:spPr>
            <a:xfrm>
              <a:off x="-1" y="635000"/>
              <a:ext cx="12191999" cy="366715"/>
            </a:xfrm>
            <a:prstGeom prst="rect">
              <a:avLst/>
            </a:prstGeom>
            <a:solidFill>
              <a:srgbClr val="FF00A6">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2E00DF5-2A72-5DDC-EF39-346AE4751805}"/>
                </a:ext>
              </a:extLst>
            </p:cNvPr>
            <p:cNvSpPr/>
            <p:nvPr/>
          </p:nvSpPr>
          <p:spPr>
            <a:xfrm>
              <a:off x="-1" y="1382715"/>
              <a:ext cx="12191999" cy="365760"/>
            </a:xfrm>
            <a:prstGeom prst="rect">
              <a:avLst/>
            </a:prstGeom>
            <a:solidFill>
              <a:srgbClr val="FF00A6">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A35E25D-29BD-0AAF-D48F-90B60633440A}"/>
                </a:ext>
              </a:extLst>
            </p:cNvPr>
            <p:cNvSpPr/>
            <p:nvPr/>
          </p:nvSpPr>
          <p:spPr>
            <a:xfrm>
              <a:off x="-1" y="2129475"/>
              <a:ext cx="12191999" cy="366715"/>
            </a:xfrm>
            <a:prstGeom prst="rect">
              <a:avLst/>
            </a:prstGeom>
            <a:solidFill>
              <a:srgbClr val="FF00A6">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39D9074-2416-8B46-DD04-D901B781DAAF}"/>
                </a:ext>
              </a:extLst>
            </p:cNvPr>
            <p:cNvSpPr/>
            <p:nvPr/>
          </p:nvSpPr>
          <p:spPr>
            <a:xfrm>
              <a:off x="-1" y="2877190"/>
              <a:ext cx="12191999" cy="365760"/>
            </a:xfrm>
            <a:prstGeom prst="rect">
              <a:avLst/>
            </a:prstGeom>
            <a:solidFill>
              <a:srgbClr val="FF00A6">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ECE3AA2-4038-88C4-4171-901BD08741A4}"/>
                </a:ext>
              </a:extLst>
            </p:cNvPr>
            <p:cNvSpPr/>
            <p:nvPr/>
          </p:nvSpPr>
          <p:spPr>
            <a:xfrm>
              <a:off x="-1" y="3615051"/>
              <a:ext cx="12191999" cy="366715"/>
            </a:xfrm>
            <a:prstGeom prst="rect">
              <a:avLst/>
            </a:prstGeom>
            <a:solidFill>
              <a:srgbClr val="FF00A6">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00193A9-05C0-F4DD-A932-97EF31F9730C}"/>
                </a:ext>
              </a:extLst>
            </p:cNvPr>
            <p:cNvSpPr/>
            <p:nvPr/>
          </p:nvSpPr>
          <p:spPr>
            <a:xfrm>
              <a:off x="-1" y="4362766"/>
              <a:ext cx="12191999" cy="365760"/>
            </a:xfrm>
            <a:prstGeom prst="rect">
              <a:avLst/>
            </a:prstGeom>
            <a:solidFill>
              <a:srgbClr val="FF00A6">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B5AA71F-9B35-83DF-C1EC-E12F260B2AAF}"/>
                </a:ext>
              </a:extLst>
            </p:cNvPr>
            <p:cNvSpPr/>
            <p:nvPr/>
          </p:nvSpPr>
          <p:spPr>
            <a:xfrm>
              <a:off x="-1" y="5109526"/>
              <a:ext cx="12191999" cy="366715"/>
            </a:xfrm>
            <a:prstGeom prst="rect">
              <a:avLst/>
            </a:prstGeom>
            <a:solidFill>
              <a:srgbClr val="FF00A6">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7672102-BB5A-256F-C76D-3650EC6D9F1A}"/>
                </a:ext>
              </a:extLst>
            </p:cNvPr>
            <p:cNvSpPr/>
            <p:nvPr/>
          </p:nvSpPr>
          <p:spPr>
            <a:xfrm>
              <a:off x="-1" y="5857241"/>
              <a:ext cx="12191999" cy="365760"/>
            </a:xfrm>
            <a:prstGeom prst="rect">
              <a:avLst/>
            </a:prstGeom>
            <a:solidFill>
              <a:srgbClr val="FF00A6">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CF451E-76D1-F002-BA35-FC16E0D6E6FD}"/>
                </a:ext>
              </a:extLst>
            </p:cNvPr>
            <p:cNvSpPr/>
            <p:nvPr/>
          </p:nvSpPr>
          <p:spPr>
            <a:xfrm>
              <a:off x="634034"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CD47A1A-A396-D899-8C5A-DEE7149BBC49}"/>
                </a:ext>
              </a:extLst>
            </p:cNvPr>
            <p:cNvSpPr/>
            <p:nvPr/>
          </p:nvSpPr>
          <p:spPr>
            <a:xfrm>
              <a:off x="1577009"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5B18B86-FD0A-EFDE-DC90-27AE21A1A5C2}"/>
                </a:ext>
              </a:extLst>
            </p:cNvPr>
            <p:cNvSpPr/>
            <p:nvPr/>
          </p:nvSpPr>
          <p:spPr>
            <a:xfrm>
              <a:off x="2519984"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8537D0F-6DC0-D92E-3790-21AA6FC9B10E}"/>
                </a:ext>
              </a:extLst>
            </p:cNvPr>
            <p:cNvSpPr/>
            <p:nvPr/>
          </p:nvSpPr>
          <p:spPr>
            <a:xfrm>
              <a:off x="3462959"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56208AB-26F9-6BDA-BED4-923EC57199E1}"/>
                </a:ext>
              </a:extLst>
            </p:cNvPr>
            <p:cNvSpPr/>
            <p:nvPr/>
          </p:nvSpPr>
          <p:spPr>
            <a:xfrm>
              <a:off x="4405934"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C3C84C3-E8C7-C1F2-A9BF-38B3216C4D50}"/>
                </a:ext>
              </a:extLst>
            </p:cNvPr>
            <p:cNvSpPr/>
            <p:nvPr/>
          </p:nvSpPr>
          <p:spPr>
            <a:xfrm>
              <a:off x="5348909"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9A8B812-E44E-033B-2733-FEAB72D376F9}"/>
                </a:ext>
              </a:extLst>
            </p:cNvPr>
            <p:cNvSpPr/>
            <p:nvPr/>
          </p:nvSpPr>
          <p:spPr>
            <a:xfrm>
              <a:off x="6286502"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242DE017-C716-BDFF-4124-5C7CAE7D5A0F}"/>
                </a:ext>
              </a:extLst>
            </p:cNvPr>
            <p:cNvSpPr/>
            <p:nvPr/>
          </p:nvSpPr>
          <p:spPr>
            <a:xfrm>
              <a:off x="7229477"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C0A202B5-55A5-5485-CF20-A09AA56298D0}"/>
                </a:ext>
              </a:extLst>
            </p:cNvPr>
            <p:cNvSpPr/>
            <p:nvPr/>
          </p:nvSpPr>
          <p:spPr>
            <a:xfrm>
              <a:off x="8172452"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013BDEF1-1BC5-43BD-754B-851F426BEBAF}"/>
                </a:ext>
              </a:extLst>
            </p:cNvPr>
            <p:cNvSpPr/>
            <p:nvPr/>
          </p:nvSpPr>
          <p:spPr>
            <a:xfrm>
              <a:off x="9115427"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A99DDB9-B348-83E3-1C05-F7F44DA41648}"/>
                </a:ext>
              </a:extLst>
            </p:cNvPr>
            <p:cNvSpPr/>
            <p:nvPr/>
          </p:nvSpPr>
          <p:spPr>
            <a:xfrm>
              <a:off x="10058402"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B91D80EB-3C24-9C73-564F-9D9CD41708FF}"/>
                </a:ext>
              </a:extLst>
            </p:cNvPr>
            <p:cNvSpPr/>
            <p:nvPr/>
          </p:nvSpPr>
          <p:spPr>
            <a:xfrm>
              <a:off x="11001377" y="0"/>
              <a:ext cx="556591" cy="6858000"/>
            </a:xfrm>
            <a:prstGeom prst="rect">
              <a:avLst/>
            </a:prstGeom>
            <a:solidFill>
              <a:srgbClr val="7B00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0" name="Footer Placeholder 4">
            <a:extLst>
              <a:ext uri="{FF2B5EF4-FFF2-40B4-BE49-F238E27FC236}">
                <a16:creationId xmlns:a16="http://schemas.microsoft.com/office/drawing/2014/main" id="{ABCCC75E-346A-D106-EBC3-DD4231D5F2DC}"/>
              </a:ext>
            </a:extLst>
          </p:cNvPr>
          <p:cNvSpPr>
            <a:spLocks noGrp="1"/>
          </p:cNvSpPr>
          <p:nvPr>
            <p:ph type="ftr" sz="quarter" idx="3"/>
          </p:nvPr>
        </p:nvSpPr>
        <p:spPr>
          <a:xfrm>
            <a:off x="8735430" y="6114097"/>
            <a:ext cx="2447884" cy="365125"/>
          </a:xfrm>
          <a:prstGeom prst="rect">
            <a:avLst/>
          </a:prstGeom>
        </p:spPr>
        <p:txBody>
          <a:bodyPr/>
          <a:lstStyle>
            <a:lvl1pPr>
              <a:defRPr sz="1400"/>
            </a:lvl1pPr>
          </a:lstStyle>
          <a:p>
            <a:pPr algn="r"/>
            <a:r>
              <a:rPr lang="en-US" dirty="0"/>
              <a:t>High-impact sales strategies</a:t>
            </a:r>
          </a:p>
        </p:txBody>
      </p:sp>
      <p:sp>
        <p:nvSpPr>
          <p:cNvPr id="31" name="Slide Number Placeholder 5">
            <a:extLst>
              <a:ext uri="{FF2B5EF4-FFF2-40B4-BE49-F238E27FC236}">
                <a16:creationId xmlns:a16="http://schemas.microsoft.com/office/drawing/2014/main" id="{EEA02095-28E3-4062-860F-CF0051DC1F1A}"/>
              </a:ext>
            </a:extLst>
          </p:cNvPr>
          <p:cNvSpPr>
            <a:spLocks noGrp="1"/>
          </p:cNvSpPr>
          <p:nvPr>
            <p:ph type="sldNum" sz="quarter" idx="4"/>
          </p:nvPr>
        </p:nvSpPr>
        <p:spPr>
          <a:xfrm>
            <a:off x="11282733" y="6116452"/>
            <a:ext cx="429207" cy="365125"/>
          </a:xfrm>
          <a:prstGeom prst="rect">
            <a:avLst/>
          </a:prstGeom>
        </p:spPr>
        <p:txBody>
          <a:bodyPr/>
          <a:lstStyle>
            <a:lvl1pPr>
              <a:defRPr sz="1400"/>
            </a:lvl1pPr>
          </a:lstStyle>
          <a:p>
            <a:fld id="{CC057153-B650-4DEB-B370-79DDCFDCE934}" type="slidenum">
              <a:rPr lang="en-US" smtClean="0"/>
              <a:pPr/>
              <a:t>‹#›</a:t>
            </a:fld>
            <a:endParaRPr lang="en-US" dirty="0"/>
          </a:p>
        </p:txBody>
      </p:sp>
      <p:sp>
        <p:nvSpPr>
          <p:cNvPr id="48" name="Date Placeholder 6">
            <a:extLst>
              <a:ext uri="{FF2B5EF4-FFF2-40B4-BE49-F238E27FC236}">
                <a16:creationId xmlns:a16="http://schemas.microsoft.com/office/drawing/2014/main" id="{C0C32C00-0E9C-077D-6893-59C408D35E1B}"/>
              </a:ext>
            </a:extLst>
          </p:cNvPr>
          <p:cNvSpPr>
            <a:spLocks noGrp="1"/>
          </p:cNvSpPr>
          <p:nvPr>
            <p:ph type="dt" sz="half" idx="2"/>
          </p:nvPr>
        </p:nvSpPr>
        <p:spPr>
          <a:xfrm>
            <a:off x="480060" y="6114096"/>
            <a:ext cx="3494314" cy="365125"/>
          </a:xfrm>
          <a:prstGeom prst="rect">
            <a:avLst/>
          </a:prstGeom>
        </p:spPr>
        <p:txBody>
          <a:bodyPr/>
          <a:lstStyle>
            <a:lvl1pPr>
              <a:defRPr lang="en-US" sz="1400" kern="1200" dirty="0">
                <a:solidFill>
                  <a:schemeClr val="tx1"/>
                </a:solidFill>
                <a:latin typeface="+mn-lt"/>
                <a:ea typeface="+mn-ea"/>
                <a:cs typeface="+mn-cs"/>
              </a:defRPr>
            </a:lvl1pPr>
          </a:lstStyle>
          <a:p>
            <a:endParaRPr lang="en-US" dirty="0"/>
          </a:p>
        </p:txBody>
      </p:sp>
    </p:spTree>
    <p:extLst>
      <p:ext uri="{BB962C8B-B14F-4D97-AF65-F5344CB8AC3E}">
        <p14:creationId xmlns:p14="http://schemas.microsoft.com/office/powerpoint/2010/main" val="1579806993"/>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 id="2147483833" r:id="rId18"/>
    <p:sldLayoutId id="2147483834" r:id="rId19"/>
    <p:sldLayoutId id="2147483835" r:id="rId20"/>
    <p:sldLayoutId id="2147483836" r:id="rId21"/>
    <p:sldLayoutId id="2147483837" r:id="rId22"/>
    <p:sldLayoutId id="2147483838" r:id="rId23"/>
    <p:sldLayoutId id="2147483839" r:id="rId24"/>
    <p:sldLayoutId id="2147483840" r:id="rId25"/>
    <p:sldLayoutId id="2147483841" r:id="rId26"/>
    <p:sldLayoutId id="2147483842" r:id="rId27"/>
    <p:sldLayoutId id="2147483843" r:id="rId28"/>
    <p:sldLayoutId id="2147483844" r:id="rId29"/>
    <p:sldLayoutId id="2147483845" r:id="rId30"/>
    <p:sldLayoutId id="2147483846" r:id="rId31"/>
    <p:sldLayoutId id="2147483847" r:id="rId32"/>
    <p:sldLayoutId id="2147483848" r:id="rId33"/>
    <p:sldLayoutId id="2147483849" r:id="rId34"/>
    <p:sldLayoutId id="2147483850" r:id="rId35"/>
    <p:sldLayoutId id="2147483851" r:id="rId36"/>
    <p:sldLayoutId id="2147483852" r:id="rId37"/>
    <p:sldLayoutId id="2147483854" r:id="rId38"/>
    <p:sldLayoutId id="2147483855" r:id="rId39"/>
    <p:sldLayoutId id="2147483856" r:id="rId40"/>
    <p:sldLayoutId id="2147483857" r:id="rId41"/>
    <p:sldLayoutId id="2147483858" r:id="rId42"/>
    <p:sldLayoutId id="2147483859" r:id="rId43"/>
    <p:sldLayoutId id="2147483860" r:id="rId44"/>
    <p:sldLayoutId id="2147483861" r:id="rId45"/>
    <p:sldLayoutId id="2147483862" r:id="rId46"/>
    <p:sldLayoutId id="2147483863" r:id="rId47"/>
    <p:sldLayoutId id="2147483864" r:id="rId48"/>
    <p:sldLayoutId id="2147483865" r:id="rId49"/>
  </p:sldLayoutIdLst>
  <p:hf hdr="0" dt="0"/>
  <p:txStyles>
    <p:titleStyle>
      <a:lvl1pPr algn="l" defTabSz="914400" rtl="0" eaLnBrk="1" latinLnBrk="0" hangingPunct="1">
        <a:lnSpc>
          <a:spcPct val="80000"/>
        </a:lnSpc>
        <a:spcBef>
          <a:spcPct val="0"/>
        </a:spcBef>
        <a:buNone/>
        <a:defRPr sz="54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b="0" i="0" kern="1200">
          <a:solidFill>
            <a:schemeClr val="tx1"/>
          </a:solidFill>
          <a:latin typeface="Aptos Display" panose="020B0004020202020204" pitchFamily="34" charset="0"/>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mailto:spornimaa@0504gmail.com" TargetMode="External"/><Relationship Id="rId2" Type="http://schemas.openxmlformats.org/officeDocument/2006/relationships/image" Target="../media/image1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ctrTitle"/>
          </p:nvPr>
        </p:nvSpPr>
        <p:spPr>
          <a:xfrm>
            <a:off x="2133602" y="2129475"/>
            <a:ext cx="4594744" cy="4093904"/>
          </a:xfrm>
        </p:spPr>
        <p:txBody>
          <a:bodyPr/>
          <a:lstStyle/>
          <a:p>
            <a:r>
              <a:rPr lang="en-US" dirty="0"/>
              <a:t>Sales Dataset Analysis </a:t>
            </a:r>
            <a:br>
              <a:rPr lang="en-US" dirty="0"/>
            </a:br>
            <a:r>
              <a:rPr lang="en-US" dirty="0"/>
              <a:t>2022-2025</a:t>
            </a:r>
          </a:p>
        </p:txBody>
      </p:sp>
      <p:sp>
        <p:nvSpPr>
          <p:cNvPr id="3" name="Subtitle 2">
            <a:extLst>
              <a:ext uri="{FF2B5EF4-FFF2-40B4-BE49-F238E27FC236}">
                <a16:creationId xmlns:a16="http://schemas.microsoft.com/office/drawing/2014/main" id="{363CF5F8-0028-8636-5006-5D5C52B32774}"/>
              </a:ext>
            </a:extLst>
          </p:cNvPr>
          <p:cNvSpPr>
            <a:spLocks noGrp="1"/>
          </p:cNvSpPr>
          <p:nvPr>
            <p:ph type="subTitle" idx="1"/>
          </p:nvPr>
        </p:nvSpPr>
        <p:spPr>
          <a:xfrm>
            <a:off x="1190622" y="1000759"/>
            <a:ext cx="5095878" cy="417408"/>
          </a:xfrm>
        </p:spPr>
        <p:txBody>
          <a:bodyPr/>
          <a:lstStyle/>
          <a:p>
            <a:r>
              <a:rPr lang="en-IN" dirty="0"/>
              <a:t>Welcome to my Presentation</a:t>
            </a:r>
            <a:endParaRPr lang="en-US" dirty="0"/>
          </a:p>
        </p:txBody>
      </p:sp>
      <p:pic>
        <p:nvPicPr>
          <p:cNvPr id="5" name="Picture Placeholder 4" descr="A close up of a plant">
            <a:extLst>
              <a:ext uri="{FF2B5EF4-FFF2-40B4-BE49-F238E27FC236}">
                <a16:creationId xmlns:a16="http://schemas.microsoft.com/office/drawing/2014/main" id="{55A6D12F-873E-B6FD-EDF4-307756D14ABB}"/>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l="2" r="2"/>
          <a:stretch/>
        </p:blipFill>
        <p:spPr>
          <a:xfrm>
            <a:off x="7224097" y="0"/>
            <a:ext cx="3777281" cy="6858000"/>
          </a:xfrm>
        </p:spPr>
      </p:pic>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D9FB-B08B-6550-BEBF-B430741924E7}"/>
              </a:ext>
            </a:extLst>
          </p:cNvPr>
          <p:cNvSpPr>
            <a:spLocks noGrp="1"/>
          </p:cNvSpPr>
          <p:nvPr>
            <p:ph type="title"/>
          </p:nvPr>
        </p:nvSpPr>
        <p:spPr>
          <a:xfrm>
            <a:off x="5905501" y="664108"/>
            <a:ext cx="4709488" cy="1084367"/>
          </a:xfrm>
        </p:spPr>
        <p:txBody>
          <a:bodyPr/>
          <a:lstStyle/>
          <a:p>
            <a:r>
              <a:rPr lang="en-US" dirty="0"/>
              <a:t>Agenda</a:t>
            </a:r>
          </a:p>
        </p:txBody>
      </p:sp>
      <p:pic>
        <p:nvPicPr>
          <p:cNvPr id="5" name="Picture Placeholder 4" descr="A black and white photo of a flower">
            <a:extLst>
              <a:ext uri="{FF2B5EF4-FFF2-40B4-BE49-F238E27FC236}">
                <a16:creationId xmlns:a16="http://schemas.microsoft.com/office/drawing/2014/main" id="{B42686CC-96E9-16F2-FA21-C9E971CEB346}"/>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a:stretch/>
        </p:blipFill>
        <p:spPr>
          <a:xfrm>
            <a:off x="1190627" y="0"/>
            <a:ext cx="3771898" cy="6858000"/>
          </a:xfrm>
        </p:spPr>
      </p:pic>
      <p:sp>
        <p:nvSpPr>
          <p:cNvPr id="3" name="Content Placeholder 2">
            <a:extLst>
              <a:ext uri="{FF2B5EF4-FFF2-40B4-BE49-F238E27FC236}">
                <a16:creationId xmlns:a16="http://schemas.microsoft.com/office/drawing/2014/main" id="{79BC7904-BA22-561E-1DE0-8E716FCEA69E}"/>
              </a:ext>
            </a:extLst>
          </p:cNvPr>
          <p:cNvSpPr>
            <a:spLocks noGrp="1"/>
          </p:cNvSpPr>
          <p:nvPr>
            <p:ph sz="quarter" idx="13"/>
          </p:nvPr>
        </p:nvSpPr>
        <p:spPr>
          <a:xfrm>
            <a:off x="6843095" y="2496190"/>
            <a:ext cx="3771894" cy="3726810"/>
          </a:xfrm>
        </p:spPr>
        <p:txBody>
          <a:bodyPr>
            <a:normAutofit/>
          </a:bodyPr>
          <a:lstStyle/>
          <a:p>
            <a:r>
              <a:rPr lang="en-US" dirty="0"/>
              <a:t>Introduction</a:t>
            </a:r>
          </a:p>
          <a:p>
            <a:r>
              <a:rPr lang="en-US" dirty="0"/>
              <a:t>Blank Fills</a:t>
            </a:r>
          </a:p>
          <a:p>
            <a:r>
              <a:rPr lang="en-US" dirty="0"/>
              <a:t>Client Requirements</a:t>
            </a:r>
          </a:p>
          <a:p>
            <a:r>
              <a:rPr lang="en-US" dirty="0" err="1"/>
              <a:t>PivotCharts</a:t>
            </a:r>
            <a:endParaRPr lang="en-US" dirty="0"/>
          </a:p>
          <a:p>
            <a:r>
              <a:rPr lang="en-US" dirty="0"/>
              <a:t>Explanation</a:t>
            </a:r>
          </a:p>
          <a:p>
            <a:r>
              <a:rPr lang="en-US" dirty="0"/>
              <a:t>Dashboard</a:t>
            </a:r>
          </a:p>
        </p:txBody>
      </p:sp>
    </p:spTree>
    <p:extLst>
      <p:ext uri="{BB962C8B-B14F-4D97-AF65-F5344CB8AC3E}">
        <p14:creationId xmlns:p14="http://schemas.microsoft.com/office/powerpoint/2010/main" val="154517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1188720" y="1486540"/>
            <a:ext cx="7538419" cy="560624"/>
          </a:xfrm>
        </p:spPr>
        <p:txBody>
          <a:bodyPr>
            <a:normAutofit fontScale="90000"/>
          </a:bodyPr>
          <a:lstStyle/>
          <a:p>
            <a:r>
              <a:rPr lang="en-US" sz="4000" b="1" dirty="0">
                <a:latin typeface="Gill Sans MT" panose="020B0502020104020203" pitchFamily="34" charset="0"/>
                <a:cs typeface="Arial" panose="020B0604020202020204" pitchFamily="34" charset="0"/>
              </a:rPr>
              <a:t>1.INTRODUCTION</a:t>
            </a:r>
            <a:endParaRPr lang="en-US" sz="1800" b="1" dirty="0">
              <a:latin typeface="Gill Sans MT" panose="020B0502020104020203" pitchFamily="34" charset="0"/>
              <a:cs typeface="Arial" panose="020B0604020202020204" pitchFamily="34" charset="0"/>
            </a:endParaRPr>
          </a:p>
        </p:txBody>
      </p:sp>
      <p:sp>
        <p:nvSpPr>
          <p:cNvPr id="4" name="TextBox 3">
            <a:extLst>
              <a:ext uri="{FF2B5EF4-FFF2-40B4-BE49-F238E27FC236}">
                <a16:creationId xmlns:a16="http://schemas.microsoft.com/office/drawing/2014/main" id="{64D859C5-0166-92C1-7B24-70F9D51B93F5}"/>
              </a:ext>
            </a:extLst>
          </p:cNvPr>
          <p:cNvSpPr txBox="1"/>
          <p:nvPr/>
        </p:nvSpPr>
        <p:spPr>
          <a:xfrm>
            <a:off x="1146412" y="2456597"/>
            <a:ext cx="9785445" cy="4293483"/>
          </a:xfrm>
          <a:prstGeom prst="rect">
            <a:avLst/>
          </a:prstGeom>
          <a:noFill/>
        </p:spPr>
        <p:txBody>
          <a:bodyPr wrap="square" rtlCol="0">
            <a:spAutoFit/>
          </a:bodyPr>
          <a:lstStyle/>
          <a:p>
            <a:pPr marL="285750" indent="-285750">
              <a:buFont typeface="Wingdings" panose="05000000000000000000" pitchFamily="2" charset="2"/>
              <a:buChar char="Ø"/>
            </a:pPr>
            <a:r>
              <a:rPr lang="en-GB" sz="2100" b="1" dirty="0">
                <a:solidFill>
                  <a:schemeClr val="bg1"/>
                </a:solidFill>
                <a:latin typeface="Arial" panose="020B0604020202020204" pitchFamily="34" charset="0"/>
                <a:cs typeface="Arial" panose="020B0604020202020204" pitchFamily="34" charset="0"/>
              </a:rPr>
              <a:t>We are going to </a:t>
            </a:r>
            <a:r>
              <a:rPr lang="en-GB" sz="2100" b="1" dirty="0" err="1">
                <a:solidFill>
                  <a:schemeClr val="bg1"/>
                </a:solidFill>
                <a:latin typeface="Arial" panose="020B0604020202020204" pitchFamily="34" charset="0"/>
                <a:cs typeface="Arial" panose="020B0604020202020204" pitchFamily="34" charset="0"/>
              </a:rPr>
              <a:t>analyze</a:t>
            </a:r>
            <a:r>
              <a:rPr lang="en-GB" sz="2100" b="1" dirty="0">
                <a:solidFill>
                  <a:schemeClr val="bg1"/>
                </a:solidFill>
                <a:latin typeface="Arial" panose="020B0604020202020204" pitchFamily="34" charset="0"/>
                <a:cs typeface="Arial" panose="020B0604020202020204" pitchFamily="34" charset="0"/>
              </a:rPr>
              <a:t> a Sales dataset. First of all, the given dataset contained 16,04,497 records. After obtaining the dataset, it was cleaned and </a:t>
            </a:r>
            <a:r>
              <a:rPr lang="en-GB" sz="2100" b="1" dirty="0" err="1">
                <a:solidFill>
                  <a:schemeClr val="bg1"/>
                </a:solidFill>
                <a:latin typeface="Arial" panose="020B0604020202020204" pitchFamily="34" charset="0"/>
                <a:cs typeface="Arial" panose="020B0604020202020204" pitchFamily="34" charset="0"/>
              </a:rPr>
              <a:t>analyzed</a:t>
            </a:r>
            <a:r>
              <a:rPr lang="en-GB" sz="2100" b="1" dirty="0">
                <a:solidFill>
                  <a:schemeClr val="bg1"/>
                </a:solidFill>
                <a:latin typeface="Arial" panose="020B0604020202020204" pitchFamily="34" charset="0"/>
                <a:cs typeface="Arial" panose="020B0604020202020204" pitchFamily="34" charset="0"/>
              </a:rPr>
              <a:t>. The empty cells were filled with a hyphen (“-”) or “Not-Provided” or “N/A” or “Invalid” where required. Next, the data was sorted, and duplicate values were checked. Out of the 16,04,497 records, 5000 duplicate values were removed, leaving 1,50,001 unique records. After that, functions, logical functions, and data validation tools were used according to the client’s requirements. Then, the required details were converted into PivotTables and </a:t>
            </a:r>
            <a:r>
              <a:rPr lang="en-GB" sz="2100" b="1" dirty="0" err="1">
                <a:solidFill>
                  <a:schemeClr val="bg1"/>
                </a:solidFill>
                <a:latin typeface="Arial" panose="020B0604020202020204" pitchFamily="34" charset="0"/>
                <a:cs typeface="Arial" panose="020B0604020202020204" pitchFamily="34" charset="0"/>
              </a:rPr>
              <a:t>PivotCharts</a:t>
            </a:r>
            <a:r>
              <a:rPr lang="en-GB" sz="2100" b="1" dirty="0">
                <a:solidFill>
                  <a:schemeClr val="bg1"/>
                </a:solidFill>
                <a:latin typeface="Arial" panose="020B0604020202020204" pitchFamily="34" charset="0"/>
                <a:cs typeface="Arial" panose="020B0604020202020204" pitchFamily="34" charset="0"/>
              </a:rPr>
              <a:t>. Finally, a dashboard was created to provide a visual representation of the data, which helps in gaining insights and supporting decision-making based on the dashboard content.</a:t>
            </a:r>
            <a:br>
              <a:rPr lang="en-GB" sz="2100" b="1" dirty="0">
                <a:solidFill>
                  <a:schemeClr val="bg1"/>
                </a:solidFill>
                <a:latin typeface="Arial" panose="020B0604020202020204" pitchFamily="34" charset="0"/>
                <a:cs typeface="Arial" panose="020B0604020202020204" pitchFamily="34" charset="0"/>
              </a:rPr>
            </a:br>
            <a:endParaRPr lang="en-IN" sz="2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188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AB4B81A-1109-FE71-33DA-5958AF3F8B56}"/>
              </a:ext>
            </a:extLst>
          </p:cNvPr>
          <p:cNvSpPr txBox="1"/>
          <p:nvPr/>
        </p:nvSpPr>
        <p:spPr>
          <a:xfrm>
            <a:off x="449179" y="-58270"/>
            <a:ext cx="9539785" cy="584775"/>
          </a:xfrm>
          <a:prstGeom prst="rect">
            <a:avLst/>
          </a:prstGeom>
          <a:noFill/>
        </p:spPr>
        <p:txBody>
          <a:bodyPr wrap="square" rtlCol="0">
            <a:spAutoFit/>
          </a:bodyPr>
          <a:lstStyle/>
          <a:p>
            <a:r>
              <a:rPr lang="en-IN" sz="3200" dirty="0">
                <a:latin typeface="Gill Sans MT" panose="020B0502020104020203" pitchFamily="34" charset="0"/>
                <a:cs typeface="Arial" panose="020B0604020202020204" pitchFamily="34" charset="0"/>
              </a:rPr>
              <a:t>2.BLANK FILLS</a:t>
            </a:r>
          </a:p>
        </p:txBody>
      </p:sp>
      <p:pic>
        <p:nvPicPr>
          <p:cNvPr id="10" name="Picture 9" descr="A screenshot of a computer&#10;&#10;AI-generated content may be incorrect.">
            <a:extLst>
              <a:ext uri="{FF2B5EF4-FFF2-40B4-BE49-F238E27FC236}">
                <a16:creationId xmlns:a16="http://schemas.microsoft.com/office/drawing/2014/main" id="{604728AC-0B28-D9D8-C154-836A2CD477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87162"/>
            <a:ext cx="12192000" cy="6370838"/>
          </a:xfrm>
          <a:prstGeom prst="rect">
            <a:avLst/>
          </a:prstGeom>
        </p:spPr>
      </p:pic>
    </p:spTree>
    <p:extLst>
      <p:ext uri="{BB962C8B-B14F-4D97-AF65-F5344CB8AC3E}">
        <p14:creationId xmlns:p14="http://schemas.microsoft.com/office/powerpoint/2010/main" val="1093627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AB4B81A-1109-FE71-33DA-5958AF3F8B56}"/>
              </a:ext>
            </a:extLst>
          </p:cNvPr>
          <p:cNvSpPr txBox="1"/>
          <p:nvPr/>
        </p:nvSpPr>
        <p:spPr>
          <a:xfrm>
            <a:off x="464024" y="-95535"/>
            <a:ext cx="9539785" cy="830997"/>
          </a:xfrm>
          <a:prstGeom prst="rect">
            <a:avLst/>
          </a:prstGeom>
          <a:noFill/>
        </p:spPr>
        <p:txBody>
          <a:bodyPr wrap="square" rtlCol="0">
            <a:spAutoFit/>
          </a:bodyPr>
          <a:lstStyle/>
          <a:p>
            <a:r>
              <a:rPr lang="en-US" sz="4800" dirty="0"/>
              <a:t>3.CLIENT REQUIREMENTS</a:t>
            </a:r>
            <a:endParaRPr lang="en-IN" sz="3200" dirty="0">
              <a:latin typeface="Gill Sans MT" panose="020B0502020104020203" pitchFamily="34" charset="0"/>
              <a:cs typeface="Arial" panose="020B0604020202020204"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228C76D2-C8A9-70F3-52D2-1D60D5AB3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9928"/>
            <a:ext cx="12192000" cy="6680422"/>
          </a:xfrm>
          <a:prstGeom prst="rect">
            <a:avLst/>
          </a:prstGeom>
        </p:spPr>
      </p:pic>
    </p:spTree>
    <p:extLst>
      <p:ext uri="{BB962C8B-B14F-4D97-AF65-F5344CB8AC3E}">
        <p14:creationId xmlns:p14="http://schemas.microsoft.com/office/powerpoint/2010/main" val="3709811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1F7ED3B4-F5FA-4380-B87F-1C4DB0980A08}"/>
              </a:ext>
            </a:extLst>
          </p:cNvPr>
          <p:cNvGraphicFramePr>
            <a:graphicFrameLocks/>
          </p:cNvGraphicFramePr>
          <p:nvPr>
            <p:extLst>
              <p:ext uri="{D42A27DB-BD31-4B8C-83A1-F6EECF244321}">
                <p14:modId xmlns:p14="http://schemas.microsoft.com/office/powerpoint/2010/main" val="1749579607"/>
              </p:ext>
            </p:extLst>
          </p:nvPr>
        </p:nvGraphicFramePr>
        <p:xfrm>
          <a:off x="513348" y="1026694"/>
          <a:ext cx="11341768" cy="532597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0A3FB3FA-3E3F-B518-5AA6-5554DFE774CE}"/>
              </a:ext>
            </a:extLst>
          </p:cNvPr>
          <p:cNvSpPr txBox="1"/>
          <p:nvPr/>
        </p:nvSpPr>
        <p:spPr>
          <a:xfrm>
            <a:off x="208547" y="320842"/>
            <a:ext cx="8422106" cy="646331"/>
          </a:xfrm>
          <a:prstGeom prst="rect">
            <a:avLst/>
          </a:prstGeom>
          <a:noFill/>
        </p:spPr>
        <p:txBody>
          <a:bodyPr wrap="square" rtlCol="0">
            <a:spAutoFit/>
          </a:bodyPr>
          <a:lstStyle/>
          <a:p>
            <a:pPr algn="ctr"/>
            <a:r>
              <a:rPr lang="en-IN" sz="3600" b="1" dirty="0">
                <a:solidFill>
                  <a:schemeClr val="accent4">
                    <a:lumMod val="75000"/>
                  </a:schemeClr>
                </a:solidFill>
              </a:rPr>
              <a:t>Total</a:t>
            </a:r>
            <a:r>
              <a:rPr lang="en-IN" sz="3600" b="1" baseline="0" dirty="0">
                <a:solidFill>
                  <a:schemeClr val="accent4">
                    <a:lumMod val="75000"/>
                  </a:schemeClr>
                </a:solidFill>
              </a:rPr>
              <a:t> Revenue by Region</a:t>
            </a:r>
            <a:endParaRPr lang="en-IN" sz="3600" b="1" dirty="0">
              <a:solidFill>
                <a:schemeClr val="accent4">
                  <a:lumMod val="75000"/>
                </a:schemeClr>
              </a:solidFill>
            </a:endParaRPr>
          </a:p>
        </p:txBody>
      </p:sp>
    </p:spTree>
    <p:extLst>
      <p:ext uri="{BB962C8B-B14F-4D97-AF65-F5344CB8AC3E}">
        <p14:creationId xmlns:p14="http://schemas.microsoft.com/office/powerpoint/2010/main" val="1611230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8A2BD7-3E79-E335-F8F0-34231859C5A8}"/>
              </a:ext>
            </a:extLst>
          </p:cNvPr>
          <p:cNvSpPr txBox="1"/>
          <p:nvPr/>
        </p:nvSpPr>
        <p:spPr>
          <a:xfrm>
            <a:off x="208547" y="320842"/>
            <a:ext cx="8422106" cy="646331"/>
          </a:xfrm>
          <a:prstGeom prst="rect">
            <a:avLst/>
          </a:prstGeom>
          <a:noFill/>
        </p:spPr>
        <p:txBody>
          <a:bodyPr wrap="square" rtlCol="0">
            <a:spAutoFit/>
          </a:bodyPr>
          <a:lstStyle/>
          <a:p>
            <a:pPr algn="ctr"/>
            <a:r>
              <a:rPr lang="en-IN" sz="3600" b="1" dirty="0">
                <a:solidFill>
                  <a:schemeClr val="accent4">
                    <a:lumMod val="75000"/>
                  </a:schemeClr>
                </a:solidFill>
              </a:rPr>
              <a:t>Major Explanation 1</a:t>
            </a:r>
          </a:p>
        </p:txBody>
      </p:sp>
      <p:sp>
        <p:nvSpPr>
          <p:cNvPr id="3" name="TextBox 2">
            <a:extLst>
              <a:ext uri="{FF2B5EF4-FFF2-40B4-BE49-F238E27FC236}">
                <a16:creationId xmlns:a16="http://schemas.microsoft.com/office/drawing/2014/main" id="{844E2712-A9C0-50F0-6530-472A1C227B8D}"/>
              </a:ext>
            </a:extLst>
          </p:cNvPr>
          <p:cNvSpPr txBox="1"/>
          <p:nvPr/>
        </p:nvSpPr>
        <p:spPr>
          <a:xfrm>
            <a:off x="208547" y="1347537"/>
            <a:ext cx="11806990" cy="954107"/>
          </a:xfrm>
          <a:prstGeom prst="rect">
            <a:avLst/>
          </a:prstGeom>
          <a:noFill/>
        </p:spPr>
        <p:txBody>
          <a:bodyPr wrap="square" rtlCol="0">
            <a:spAutoFit/>
          </a:bodyPr>
          <a:lstStyle/>
          <a:p>
            <a:pPr marL="457200" indent="-457200">
              <a:buFont typeface="Wingdings" panose="05000000000000000000" pitchFamily="2" charset="2"/>
              <a:buChar char="ü"/>
            </a:pPr>
            <a:r>
              <a:rPr lang="en-IN" sz="2800" b="1" dirty="0">
                <a:solidFill>
                  <a:schemeClr val="accent5">
                    <a:lumMod val="50000"/>
                  </a:schemeClr>
                </a:solidFill>
              </a:rPr>
              <a:t>The chart represents the </a:t>
            </a:r>
            <a:r>
              <a:rPr lang="en-IN" sz="2800" b="1" dirty="0">
                <a:solidFill>
                  <a:schemeClr val="accent4">
                    <a:lumMod val="75000"/>
                  </a:schemeClr>
                </a:solidFill>
              </a:rPr>
              <a:t>Total</a:t>
            </a:r>
            <a:r>
              <a:rPr lang="en-IN" sz="2800" b="1" baseline="0" dirty="0">
                <a:solidFill>
                  <a:schemeClr val="accent4">
                    <a:lumMod val="75000"/>
                  </a:schemeClr>
                </a:solidFill>
              </a:rPr>
              <a:t> Revenue by Region</a:t>
            </a:r>
            <a:r>
              <a:rPr lang="en-US" sz="2800" b="1" i="0" baseline="0" dirty="0">
                <a:solidFill>
                  <a:schemeClr val="accent4">
                    <a:lumMod val="75000"/>
                  </a:schemeClr>
                </a:solidFill>
                <a:effectLst/>
                <a:latin typeface="+mn-lt"/>
                <a:ea typeface="+mn-ea"/>
                <a:cs typeface="+mn-cs"/>
              </a:rPr>
              <a:t> </a:t>
            </a:r>
            <a:r>
              <a:rPr lang="en-US" sz="2800" b="1" i="0" baseline="0" dirty="0">
                <a:solidFill>
                  <a:schemeClr val="accent5">
                    <a:lumMod val="50000"/>
                  </a:schemeClr>
                </a:solidFill>
                <a:effectLst/>
                <a:latin typeface="+mn-lt"/>
                <a:ea typeface="+mn-ea"/>
                <a:cs typeface="+mn-cs"/>
              </a:rPr>
              <a:t>the </a:t>
            </a:r>
            <a:r>
              <a:rPr lang="en-US" sz="2800" b="1" i="0" baseline="0" dirty="0">
                <a:solidFill>
                  <a:schemeClr val="accent4">
                    <a:lumMod val="75000"/>
                  </a:schemeClr>
                </a:solidFill>
                <a:effectLst/>
                <a:latin typeface="+mn-lt"/>
                <a:ea typeface="+mn-ea"/>
                <a:cs typeface="+mn-cs"/>
              </a:rPr>
              <a:t>Most Revenue</a:t>
            </a:r>
            <a:r>
              <a:rPr lang="en-US" sz="2800" b="1" i="0" baseline="0" dirty="0">
                <a:solidFill>
                  <a:schemeClr val="accent5">
                    <a:lumMod val="50000"/>
                  </a:schemeClr>
                </a:solidFill>
                <a:effectLst/>
                <a:latin typeface="+mn-lt"/>
                <a:ea typeface="+mn-ea"/>
                <a:cs typeface="+mn-cs"/>
              </a:rPr>
              <a:t> of Region </a:t>
            </a:r>
            <a:r>
              <a:rPr lang="en-US" sz="2800" b="1" dirty="0">
                <a:solidFill>
                  <a:schemeClr val="accent5">
                    <a:lumMod val="50000"/>
                  </a:schemeClr>
                </a:solidFill>
              </a:rPr>
              <a:t>is </a:t>
            </a:r>
            <a:r>
              <a:rPr lang="en-US" sz="2800" b="1" dirty="0">
                <a:solidFill>
                  <a:schemeClr val="accent4">
                    <a:lumMod val="75000"/>
                  </a:schemeClr>
                </a:solidFill>
              </a:rPr>
              <a:t>North(574.39 M) </a:t>
            </a:r>
            <a:r>
              <a:rPr lang="en-US" sz="2800" b="1" dirty="0">
                <a:solidFill>
                  <a:schemeClr val="accent5">
                    <a:lumMod val="50000"/>
                  </a:schemeClr>
                </a:solidFill>
              </a:rPr>
              <a:t>&amp; </a:t>
            </a:r>
            <a:r>
              <a:rPr lang="en-US" sz="2800" b="1" dirty="0">
                <a:solidFill>
                  <a:schemeClr val="accent4">
                    <a:lumMod val="75000"/>
                  </a:schemeClr>
                </a:solidFill>
              </a:rPr>
              <a:t>Least Revenue </a:t>
            </a:r>
            <a:r>
              <a:rPr lang="en-US" sz="2800" b="1" dirty="0">
                <a:solidFill>
                  <a:schemeClr val="accent5">
                    <a:lumMod val="50000"/>
                  </a:schemeClr>
                </a:solidFill>
              </a:rPr>
              <a:t>is </a:t>
            </a:r>
            <a:r>
              <a:rPr lang="en-US" sz="2800" b="1" dirty="0">
                <a:solidFill>
                  <a:schemeClr val="accent4">
                    <a:lumMod val="75000"/>
                  </a:schemeClr>
                </a:solidFill>
              </a:rPr>
              <a:t>West</a:t>
            </a:r>
            <a:r>
              <a:rPr lang="en-IN" sz="2800" b="1" dirty="0">
                <a:solidFill>
                  <a:schemeClr val="accent4">
                    <a:lumMod val="75000"/>
                  </a:schemeClr>
                </a:solidFill>
              </a:rPr>
              <a:t>(281.61 M).</a:t>
            </a:r>
            <a:endParaRPr lang="en-IN" sz="2800" b="1" dirty="0">
              <a:solidFill>
                <a:schemeClr val="accent5">
                  <a:lumMod val="50000"/>
                </a:schemeClr>
              </a:solidFill>
            </a:endParaRPr>
          </a:p>
        </p:txBody>
      </p:sp>
    </p:spTree>
    <p:extLst>
      <p:ext uri="{BB962C8B-B14F-4D97-AF65-F5344CB8AC3E}">
        <p14:creationId xmlns:p14="http://schemas.microsoft.com/office/powerpoint/2010/main" val="1206617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807FBD6-B637-4E18-BA6F-2A2741FDE961}"/>
              </a:ext>
            </a:extLst>
          </p:cNvPr>
          <p:cNvGraphicFramePr>
            <a:graphicFrameLocks/>
          </p:cNvGraphicFramePr>
          <p:nvPr>
            <p:extLst>
              <p:ext uri="{D42A27DB-BD31-4B8C-83A1-F6EECF244321}">
                <p14:modId xmlns:p14="http://schemas.microsoft.com/office/powerpoint/2010/main" val="3157491710"/>
              </p:ext>
            </p:extLst>
          </p:nvPr>
        </p:nvGraphicFramePr>
        <p:xfrm>
          <a:off x="930442" y="967173"/>
          <a:ext cx="10587789" cy="556998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19C1910B-B6D4-BBAD-74D6-58FD5E530405}"/>
              </a:ext>
            </a:extLst>
          </p:cNvPr>
          <p:cNvSpPr txBox="1"/>
          <p:nvPr/>
        </p:nvSpPr>
        <p:spPr>
          <a:xfrm>
            <a:off x="208547" y="320842"/>
            <a:ext cx="842210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i="0" baseline="0" dirty="0">
                <a:solidFill>
                  <a:schemeClr val="accent4">
                    <a:lumMod val="75000"/>
                  </a:schemeClr>
                </a:solidFill>
                <a:effectLst/>
                <a:latin typeface="+mn-lt"/>
                <a:ea typeface="+mn-ea"/>
                <a:cs typeface="+mn-cs"/>
              </a:rPr>
              <a:t>Sum of Revenue by Product Category</a:t>
            </a:r>
            <a:endParaRPr lang="en-IN" sz="3600" b="1" dirty="0">
              <a:solidFill>
                <a:schemeClr val="accent4">
                  <a:lumMod val="75000"/>
                </a:schemeClr>
              </a:solidFill>
              <a:effectLst/>
            </a:endParaRPr>
          </a:p>
        </p:txBody>
      </p:sp>
    </p:spTree>
    <p:extLst>
      <p:ext uri="{BB962C8B-B14F-4D97-AF65-F5344CB8AC3E}">
        <p14:creationId xmlns:p14="http://schemas.microsoft.com/office/powerpoint/2010/main" val="4058655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A3FB3FA-3E3F-B518-5AA6-5554DFE774CE}"/>
              </a:ext>
            </a:extLst>
          </p:cNvPr>
          <p:cNvSpPr txBox="1"/>
          <p:nvPr/>
        </p:nvSpPr>
        <p:spPr>
          <a:xfrm>
            <a:off x="208547" y="320842"/>
            <a:ext cx="8422106" cy="646331"/>
          </a:xfrm>
          <a:prstGeom prst="rect">
            <a:avLst/>
          </a:prstGeom>
          <a:noFill/>
        </p:spPr>
        <p:txBody>
          <a:bodyPr wrap="square" rtlCol="0">
            <a:spAutoFit/>
          </a:bodyPr>
          <a:lstStyle/>
          <a:p>
            <a:pPr algn="ctr"/>
            <a:r>
              <a:rPr lang="en-IN" sz="3600" b="1" dirty="0">
                <a:solidFill>
                  <a:schemeClr val="accent4">
                    <a:lumMod val="75000"/>
                  </a:schemeClr>
                </a:solidFill>
              </a:rPr>
              <a:t>Major Explanation 2</a:t>
            </a:r>
          </a:p>
        </p:txBody>
      </p:sp>
      <p:sp>
        <p:nvSpPr>
          <p:cNvPr id="3" name="TextBox 2">
            <a:extLst>
              <a:ext uri="{FF2B5EF4-FFF2-40B4-BE49-F238E27FC236}">
                <a16:creationId xmlns:a16="http://schemas.microsoft.com/office/drawing/2014/main" id="{4D1D838D-4D53-F364-C410-EC2ABCAC9F63}"/>
              </a:ext>
            </a:extLst>
          </p:cNvPr>
          <p:cNvSpPr txBox="1"/>
          <p:nvPr/>
        </p:nvSpPr>
        <p:spPr>
          <a:xfrm>
            <a:off x="208547" y="1347537"/>
            <a:ext cx="11806990" cy="1384995"/>
          </a:xfrm>
          <a:prstGeom prst="rect">
            <a:avLst/>
          </a:prstGeom>
          <a:noFill/>
        </p:spPr>
        <p:txBody>
          <a:bodyPr wrap="square" rtlCol="0">
            <a:spAutoFit/>
          </a:bodyPr>
          <a:lstStyle/>
          <a:p>
            <a:pPr marL="457200" indent="-457200">
              <a:buFont typeface="Wingdings" panose="05000000000000000000" pitchFamily="2" charset="2"/>
              <a:buChar char="ü"/>
            </a:pPr>
            <a:r>
              <a:rPr lang="en-IN" sz="2800" b="1" dirty="0">
                <a:solidFill>
                  <a:schemeClr val="accent5">
                    <a:lumMod val="50000"/>
                  </a:schemeClr>
                </a:solidFill>
              </a:rPr>
              <a:t>The chart represents the </a:t>
            </a:r>
            <a:r>
              <a:rPr lang="en-US" sz="2800" b="1" i="0" baseline="0" dirty="0">
                <a:solidFill>
                  <a:schemeClr val="accent4">
                    <a:lumMod val="75000"/>
                  </a:schemeClr>
                </a:solidFill>
                <a:effectLst/>
                <a:latin typeface="+mn-lt"/>
                <a:ea typeface="+mn-ea"/>
                <a:cs typeface="+mn-cs"/>
              </a:rPr>
              <a:t>Sum of Revenue by Product Category</a:t>
            </a:r>
            <a:r>
              <a:rPr lang="en-IN" sz="2800" b="1" dirty="0">
                <a:solidFill>
                  <a:schemeClr val="accent4">
                    <a:lumMod val="75000"/>
                  </a:schemeClr>
                </a:solidFill>
              </a:rPr>
              <a:t> </a:t>
            </a:r>
            <a:r>
              <a:rPr lang="en-US" sz="2800" b="1" i="0" baseline="0" dirty="0">
                <a:solidFill>
                  <a:schemeClr val="accent5">
                    <a:lumMod val="50000"/>
                  </a:schemeClr>
                </a:solidFill>
                <a:effectLst/>
                <a:latin typeface="+mn-lt"/>
                <a:ea typeface="+mn-ea"/>
                <a:cs typeface="+mn-cs"/>
              </a:rPr>
              <a:t>the </a:t>
            </a:r>
            <a:r>
              <a:rPr lang="en-US" sz="2800" b="1" i="0" baseline="0" dirty="0">
                <a:solidFill>
                  <a:schemeClr val="accent4">
                    <a:lumMod val="75000"/>
                  </a:schemeClr>
                </a:solidFill>
                <a:effectLst/>
                <a:latin typeface="+mn-lt"/>
                <a:ea typeface="+mn-ea"/>
                <a:cs typeface="+mn-cs"/>
              </a:rPr>
              <a:t>Most Revenue</a:t>
            </a:r>
            <a:r>
              <a:rPr lang="en-US" sz="2800" b="1" i="0" baseline="0" dirty="0">
                <a:solidFill>
                  <a:schemeClr val="accent5">
                    <a:lumMod val="50000"/>
                  </a:schemeClr>
                </a:solidFill>
                <a:effectLst/>
                <a:latin typeface="+mn-lt"/>
                <a:ea typeface="+mn-ea"/>
                <a:cs typeface="+mn-cs"/>
              </a:rPr>
              <a:t> of Product</a:t>
            </a:r>
            <a:r>
              <a:rPr lang="en-US" sz="2800" b="1" dirty="0">
                <a:solidFill>
                  <a:schemeClr val="accent5">
                    <a:lumMod val="50000"/>
                  </a:schemeClr>
                </a:solidFill>
              </a:rPr>
              <a:t> is </a:t>
            </a:r>
            <a:r>
              <a:rPr lang="en-US" sz="2800" b="1" dirty="0">
                <a:solidFill>
                  <a:schemeClr val="accent4">
                    <a:lumMod val="75000"/>
                  </a:schemeClr>
                </a:solidFill>
              </a:rPr>
              <a:t>Office Supplies(679.65 M) </a:t>
            </a:r>
            <a:r>
              <a:rPr lang="en-US" sz="2800" b="1" dirty="0">
                <a:solidFill>
                  <a:schemeClr val="accent5">
                    <a:lumMod val="50000"/>
                  </a:schemeClr>
                </a:solidFill>
              </a:rPr>
              <a:t>&amp; </a:t>
            </a:r>
            <a:r>
              <a:rPr lang="en-US" sz="2800" b="1" dirty="0">
                <a:solidFill>
                  <a:schemeClr val="accent4">
                    <a:lumMod val="75000"/>
                  </a:schemeClr>
                </a:solidFill>
              </a:rPr>
              <a:t>Least Revenue </a:t>
            </a:r>
            <a:r>
              <a:rPr lang="en-US" sz="2800" b="1" dirty="0">
                <a:solidFill>
                  <a:schemeClr val="accent5">
                    <a:lumMod val="50000"/>
                  </a:schemeClr>
                </a:solidFill>
              </a:rPr>
              <a:t>is </a:t>
            </a:r>
            <a:r>
              <a:rPr lang="en-US" sz="2800" b="1" dirty="0">
                <a:solidFill>
                  <a:schemeClr val="accent4">
                    <a:lumMod val="75000"/>
                  </a:schemeClr>
                </a:solidFill>
              </a:rPr>
              <a:t>Appliances (</a:t>
            </a:r>
            <a:r>
              <a:rPr lang="en-IN" sz="2800" b="1" dirty="0">
                <a:solidFill>
                  <a:schemeClr val="accent4">
                    <a:lumMod val="75000"/>
                  </a:schemeClr>
                </a:solidFill>
              </a:rPr>
              <a:t>314.42 M).</a:t>
            </a:r>
            <a:endParaRPr lang="en-IN" sz="2800" b="1" dirty="0">
              <a:solidFill>
                <a:schemeClr val="accent5">
                  <a:lumMod val="50000"/>
                </a:schemeClr>
              </a:solidFill>
            </a:endParaRPr>
          </a:p>
        </p:txBody>
      </p:sp>
    </p:spTree>
    <p:extLst>
      <p:ext uri="{BB962C8B-B14F-4D97-AF65-F5344CB8AC3E}">
        <p14:creationId xmlns:p14="http://schemas.microsoft.com/office/powerpoint/2010/main" val="362939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E1B1588A-7F2B-480B-8453-5F58F5421F70}"/>
              </a:ext>
            </a:extLst>
          </p:cNvPr>
          <p:cNvGraphicFramePr>
            <a:graphicFrameLocks/>
          </p:cNvGraphicFramePr>
          <p:nvPr>
            <p:extLst>
              <p:ext uri="{D42A27DB-BD31-4B8C-83A1-F6EECF244321}">
                <p14:modId xmlns:p14="http://schemas.microsoft.com/office/powerpoint/2010/main" val="1806519492"/>
              </p:ext>
            </p:extLst>
          </p:nvPr>
        </p:nvGraphicFramePr>
        <p:xfrm>
          <a:off x="1106904" y="967173"/>
          <a:ext cx="10154653" cy="541758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B58B2F4C-47DD-8C54-336C-006AC34CF952}"/>
              </a:ext>
            </a:extLst>
          </p:cNvPr>
          <p:cNvSpPr txBox="1"/>
          <p:nvPr/>
        </p:nvSpPr>
        <p:spPr>
          <a:xfrm>
            <a:off x="208547" y="320842"/>
            <a:ext cx="842210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i="0" baseline="0" dirty="0">
                <a:solidFill>
                  <a:schemeClr val="accent4">
                    <a:lumMod val="75000"/>
                  </a:schemeClr>
                </a:solidFill>
                <a:effectLst/>
                <a:latin typeface="+mn-lt"/>
                <a:ea typeface="+mn-ea"/>
                <a:cs typeface="+mn-cs"/>
              </a:rPr>
              <a:t>Sum of Revenue by Sales Rep</a:t>
            </a:r>
            <a:endParaRPr lang="en-IN" sz="3600" b="1" dirty="0">
              <a:solidFill>
                <a:schemeClr val="accent4">
                  <a:lumMod val="75000"/>
                </a:schemeClr>
              </a:solidFill>
              <a:effectLst/>
            </a:endParaRPr>
          </a:p>
        </p:txBody>
      </p:sp>
    </p:spTree>
    <p:extLst>
      <p:ext uri="{BB962C8B-B14F-4D97-AF65-F5344CB8AC3E}">
        <p14:creationId xmlns:p14="http://schemas.microsoft.com/office/powerpoint/2010/main" val="2546943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A3FB3FA-3E3F-B518-5AA6-5554DFE774CE}"/>
              </a:ext>
            </a:extLst>
          </p:cNvPr>
          <p:cNvSpPr txBox="1"/>
          <p:nvPr/>
        </p:nvSpPr>
        <p:spPr>
          <a:xfrm>
            <a:off x="208547" y="320842"/>
            <a:ext cx="8422106" cy="646331"/>
          </a:xfrm>
          <a:prstGeom prst="rect">
            <a:avLst/>
          </a:prstGeom>
          <a:noFill/>
        </p:spPr>
        <p:txBody>
          <a:bodyPr wrap="square" rtlCol="0">
            <a:spAutoFit/>
          </a:bodyPr>
          <a:lstStyle/>
          <a:p>
            <a:pPr algn="ctr"/>
            <a:r>
              <a:rPr lang="en-IN" sz="3600" b="1" dirty="0">
                <a:solidFill>
                  <a:schemeClr val="accent4">
                    <a:lumMod val="75000"/>
                  </a:schemeClr>
                </a:solidFill>
              </a:rPr>
              <a:t>Major Explanation 3</a:t>
            </a:r>
          </a:p>
        </p:txBody>
      </p:sp>
      <p:sp>
        <p:nvSpPr>
          <p:cNvPr id="2" name="TextBox 1">
            <a:extLst>
              <a:ext uri="{FF2B5EF4-FFF2-40B4-BE49-F238E27FC236}">
                <a16:creationId xmlns:a16="http://schemas.microsoft.com/office/drawing/2014/main" id="{7CD2BC6C-4DFD-CD5D-64A8-BD38A797D1F5}"/>
              </a:ext>
            </a:extLst>
          </p:cNvPr>
          <p:cNvSpPr txBox="1"/>
          <p:nvPr/>
        </p:nvSpPr>
        <p:spPr>
          <a:xfrm>
            <a:off x="208547" y="1347537"/>
            <a:ext cx="11806990" cy="1384995"/>
          </a:xfrm>
          <a:prstGeom prst="rect">
            <a:avLst/>
          </a:prstGeom>
          <a:noFill/>
        </p:spPr>
        <p:txBody>
          <a:bodyPr wrap="square" rtlCol="0">
            <a:spAutoFit/>
          </a:bodyPr>
          <a:lstStyle/>
          <a:p>
            <a:pPr marL="457200" indent="-457200">
              <a:buFont typeface="Wingdings" panose="05000000000000000000" pitchFamily="2" charset="2"/>
              <a:buChar char="ü"/>
            </a:pPr>
            <a:r>
              <a:rPr lang="en-IN" sz="2800" b="1" dirty="0">
                <a:solidFill>
                  <a:schemeClr val="accent5">
                    <a:lumMod val="50000"/>
                  </a:schemeClr>
                </a:solidFill>
              </a:rPr>
              <a:t>The chart represents the </a:t>
            </a:r>
            <a:r>
              <a:rPr lang="en-US" sz="2800" b="1" i="0" baseline="0" dirty="0">
                <a:solidFill>
                  <a:schemeClr val="accent4">
                    <a:lumMod val="75000"/>
                  </a:schemeClr>
                </a:solidFill>
                <a:effectLst/>
                <a:latin typeface="+mn-lt"/>
                <a:ea typeface="+mn-ea"/>
                <a:cs typeface="+mn-cs"/>
              </a:rPr>
              <a:t>Sum of Revenue by Sales Rep</a:t>
            </a:r>
            <a:r>
              <a:rPr lang="en-IN" sz="2800" b="1" dirty="0">
                <a:solidFill>
                  <a:schemeClr val="accent4">
                    <a:lumMod val="75000"/>
                  </a:schemeClr>
                </a:solidFill>
              </a:rPr>
              <a:t> </a:t>
            </a:r>
            <a:r>
              <a:rPr lang="en-US" sz="2800" b="1" i="0" baseline="0" dirty="0">
                <a:solidFill>
                  <a:schemeClr val="accent5">
                    <a:lumMod val="50000"/>
                  </a:schemeClr>
                </a:solidFill>
                <a:effectLst/>
                <a:latin typeface="+mn-lt"/>
                <a:ea typeface="+mn-ea"/>
                <a:cs typeface="+mn-cs"/>
              </a:rPr>
              <a:t>the </a:t>
            </a:r>
            <a:r>
              <a:rPr lang="en-US" sz="2800" b="1" i="0" baseline="0" dirty="0">
                <a:solidFill>
                  <a:schemeClr val="accent4">
                    <a:lumMod val="75000"/>
                  </a:schemeClr>
                </a:solidFill>
                <a:effectLst/>
                <a:latin typeface="+mn-lt"/>
                <a:ea typeface="+mn-ea"/>
                <a:cs typeface="+mn-cs"/>
              </a:rPr>
              <a:t>Most Revenue</a:t>
            </a:r>
            <a:r>
              <a:rPr lang="en-US" sz="2800" b="1" i="0" baseline="0" dirty="0">
                <a:solidFill>
                  <a:schemeClr val="accent5">
                    <a:lumMod val="50000"/>
                  </a:schemeClr>
                </a:solidFill>
                <a:effectLst/>
                <a:latin typeface="+mn-lt"/>
                <a:ea typeface="+mn-ea"/>
                <a:cs typeface="+mn-cs"/>
              </a:rPr>
              <a:t> by Sales Rep </a:t>
            </a:r>
            <a:r>
              <a:rPr lang="en-US" sz="2800" b="1" dirty="0">
                <a:solidFill>
                  <a:schemeClr val="accent5">
                    <a:lumMod val="50000"/>
                  </a:schemeClr>
                </a:solidFill>
              </a:rPr>
              <a:t>is </a:t>
            </a:r>
            <a:r>
              <a:rPr lang="en-US" sz="2800" b="1" dirty="0">
                <a:solidFill>
                  <a:schemeClr val="accent4">
                    <a:lumMod val="75000"/>
                  </a:schemeClr>
                </a:solidFill>
              </a:rPr>
              <a:t>N/A(217.04 M) </a:t>
            </a:r>
            <a:r>
              <a:rPr lang="en-US" sz="2800" b="1" dirty="0">
                <a:solidFill>
                  <a:schemeClr val="accent5">
                    <a:lumMod val="50000"/>
                  </a:schemeClr>
                </a:solidFill>
              </a:rPr>
              <a:t>&amp; </a:t>
            </a:r>
            <a:r>
              <a:rPr lang="en-US" sz="2800" b="1" dirty="0">
                <a:solidFill>
                  <a:schemeClr val="accent4">
                    <a:lumMod val="75000"/>
                  </a:schemeClr>
                </a:solidFill>
              </a:rPr>
              <a:t>Least Revenue </a:t>
            </a:r>
            <a:r>
              <a:rPr lang="en-US" sz="2800" b="1" dirty="0">
                <a:solidFill>
                  <a:schemeClr val="accent5">
                    <a:lumMod val="50000"/>
                  </a:schemeClr>
                </a:solidFill>
              </a:rPr>
              <a:t>is </a:t>
            </a:r>
            <a:r>
              <a:rPr lang="en-US" sz="2800" b="1" dirty="0">
                <a:solidFill>
                  <a:schemeClr val="accent4">
                    <a:lumMod val="75000"/>
                  </a:schemeClr>
                </a:solidFill>
              </a:rPr>
              <a:t>Ananya(</a:t>
            </a:r>
            <a:r>
              <a:rPr lang="en-IN" sz="2800" b="1" dirty="0">
                <a:solidFill>
                  <a:schemeClr val="accent4">
                    <a:lumMod val="75000"/>
                  </a:schemeClr>
                </a:solidFill>
              </a:rPr>
              <a:t>201.11 M).</a:t>
            </a:r>
            <a:endParaRPr lang="en-IN" sz="2800" b="1" dirty="0">
              <a:solidFill>
                <a:schemeClr val="accent5">
                  <a:lumMod val="50000"/>
                </a:schemeClr>
              </a:solidFill>
            </a:endParaRPr>
          </a:p>
        </p:txBody>
      </p:sp>
    </p:spTree>
    <p:extLst>
      <p:ext uri="{BB962C8B-B14F-4D97-AF65-F5344CB8AC3E}">
        <p14:creationId xmlns:p14="http://schemas.microsoft.com/office/powerpoint/2010/main" val="3190799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67F087C2-9F47-4534-82DE-0BC3FC39EC34}"/>
              </a:ext>
            </a:extLst>
          </p:cNvPr>
          <p:cNvGraphicFramePr>
            <a:graphicFrameLocks/>
          </p:cNvGraphicFramePr>
          <p:nvPr>
            <p:extLst>
              <p:ext uri="{D42A27DB-BD31-4B8C-83A1-F6EECF244321}">
                <p14:modId xmlns:p14="http://schemas.microsoft.com/office/powerpoint/2010/main" val="3625342499"/>
              </p:ext>
            </p:extLst>
          </p:nvPr>
        </p:nvGraphicFramePr>
        <p:xfrm>
          <a:off x="1058780" y="967172"/>
          <a:ext cx="10186736" cy="519299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1D67CFC1-34B4-36AF-35B3-C76CC905C9AF}"/>
              </a:ext>
            </a:extLst>
          </p:cNvPr>
          <p:cNvSpPr txBox="1"/>
          <p:nvPr/>
        </p:nvSpPr>
        <p:spPr>
          <a:xfrm>
            <a:off x="208547" y="320842"/>
            <a:ext cx="8422106" cy="646331"/>
          </a:xfrm>
          <a:prstGeom prst="rect">
            <a:avLst/>
          </a:prstGeom>
          <a:noFill/>
        </p:spPr>
        <p:txBody>
          <a:bodyPr wrap="square" rtlCol="0">
            <a:spAutoFit/>
          </a:bodyPr>
          <a:lstStyle/>
          <a:p>
            <a:r>
              <a:rPr lang="en-US" sz="3600" b="1" i="0" baseline="0" dirty="0">
                <a:solidFill>
                  <a:schemeClr val="accent4">
                    <a:lumMod val="75000"/>
                  </a:schemeClr>
                </a:solidFill>
                <a:effectLst/>
                <a:latin typeface="+mn-lt"/>
                <a:ea typeface="+mn-ea"/>
                <a:cs typeface="+mn-cs"/>
              </a:rPr>
              <a:t>Revenue Trend</a:t>
            </a:r>
            <a:endParaRPr lang="en-IN" sz="4800" b="1" dirty="0">
              <a:solidFill>
                <a:schemeClr val="accent4">
                  <a:lumMod val="75000"/>
                </a:schemeClr>
              </a:solidFill>
              <a:effectLst/>
            </a:endParaRPr>
          </a:p>
        </p:txBody>
      </p:sp>
    </p:spTree>
    <p:extLst>
      <p:ext uri="{BB962C8B-B14F-4D97-AF65-F5344CB8AC3E}">
        <p14:creationId xmlns:p14="http://schemas.microsoft.com/office/powerpoint/2010/main" val="2780047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A3FB3FA-3E3F-B518-5AA6-5554DFE774CE}"/>
              </a:ext>
            </a:extLst>
          </p:cNvPr>
          <p:cNvSpPr txBox="1"/>
          <p:nvPr/>
        </p:nvSpPr>
        <p:spPr>
          <a:xfrm>
            <a:off x="208547" y="320842"/>
            <a:ext cx="8422106" cy="646331"/>
          </a:xfrm>
          <a:prstGeom prst="rect">
            <a:avLst/>
          </a:prstGeom>
          <a:noFill/>
        </p:spPr>
        <p:txBody>
          <a:bodyPr wrap="square" rtlCol="0">
            <a:spAutoFit/>
          </a:bodyPr>
          <a:lstStyle/>
          <a:p>
            <a:pPr algn="ctr"/>
            <a:r>
              <a:rPr lang="en-IN" sz="3600" b="1" dirty="0">
                <a:solidFill>
                  <a:schemeClr val="accent4">
                    <a:lumMod val="75000"/>
                  </a:schemeClr>
                </a:solidFill>
              </a:rPr>
              <a:t>Major Explanation 4</a:t>
            </a:r>
          </a:p>
        </p:txBody>
      </p:sp>
      <p:sp>
        <p:nvSpPr>
          <p:cNvPr id="4" name="TextBox 3">
            <a:extLst>
              <a:ext uri="{FF2B5EF4-FFF2-40B4-BE49-F238E27FC236}">
                <a16:creationId xmlns:a16="http://schemas.microsoft.com/office/drawing/2014/main" id="{4EDB1920-A273-03C8-02A9-8CDE7B591980}"/>
              </a:ext>
            </a:extLst>
          </p:cNvPr>
          <p:cNvSpPr txBox="1"/>
          <p:nvPr/>
        </p:nvSpPr>
        <p:spPr>
          <a:xfrm>
            <a:off x="208547" y="1347537"/>
            <a:ext cx="11806990" cy="954107"/>
          </a:xfrm>
          <a:prstGeom prst="rect">
            <a:avLst/>
          </a:prstGeom>
          <a:noFill/>
        </p:spPr>
        <p:txBody>
          <a:bodyPr wrap="square" rtlCol="0">
            <a:spAutoFit/>
          </a:bodyPr>
          <a:lstStyle/>
          <a:p>
            <a:pPr marL="457200" indent="-457200">
              <a:buFont typeface="Wingdings" panose="05000000000000000000" pitchFamily="2" charset="2"/>
              <a:buChar char="ü"/>
            </a:pPr>
            <a:r>
              <a:rPr lang="en-IN" sz="2800" b="1" dirty="0">
                <a:solidFill>
                  <a:schemeClr val="accent5">
                    <a:lumMod val="50000"/>
                  </a:schemeClr>
                </a:solidFill>
              </a:rPr>
              <a:t>The chart represents the </a:t>
            </a:r>
            <a:r>
              <a:rPr lang="en-US" sz="2800" b="1" i="0" baseline="0" dirty="0">
                <a:solidFill>
                  <a:schemeClr val="accent4">
                    <a:lumMod val="75000"/>
                  </a:schemeClr>
                </a:solidFill>
                <a:effectLst/>
                <a:latin typeface="+mn-lt"/>
                <a:ea typeface="+mn-ea"/>
                <a:cs typeface="+mn-cs"/>
              </a:rPr>
              <a:t>Revenue Trend </a:t>
            </a:r>
            <a:r>
              <a:rPr lang="en-US" sz="2800" b="1" i="0" baseline="0" dirty="0">
                <a:solidFill>
                  <a:schemeClr val="accent5">
                    <a:lumMod val="50000"/>
                  </a:schemeClr>
                </a:solidFill>
                <a:effectLst/>
                <a:latin typeface="+mn-lt"/>
                <a:ea typeface="+mn-ea"/>
                <a:cs typeface="+mn-cs"/>
              </a:rPr>
              <a:t>the </a:t>
            </a:r>
            <a:r>
              <a:rPr lang="en-US" sz="2800" b="1" i="0" baseline="0" dirty="0">
                <a:solidFill>
                  <a:schemeClr val="accent4">
                    <a:lumMod val="75000"/>
                  </a:schemeClr>
                </a:solidFill>
                <a:effectLst/>
                <a:latin typeface="+mn-lt"/>
                <a:ea typeface="+mn-ea"/>
                <a:cs typeface="+mn-cs"/>
              </a:rPr>
              <a:t>Most Revenue</a:t>
            </a:r>
            <a:r>
              <a:rPr lang="en-US" sz="2800" b="1" i="0" baseline="0" dirty="0">
                <a:solidFill>
                  <a:schemeClr val="accent5">
                    <a:lumMod val="50000"/>
                  </a:schemeClr>
                </a:solidFill>
                <a:effectLst/>
                <a:latin typeface="+mn-lt"/>
                <a:ea typeface="+mn-ea"/>
                <a:cs typeface="+mn-cs"/>
              </a:rPr>
              <a:t> </a:t>
            </a:r>
            <a:r>
              <a:rPr lang="en-US" sz="2800" b="1" dirty="0">
                <a:solidFill>
                  <a:schemeClr val="accent5">
                    <a:lumMod val="50000"/>
                  </a:schemeClr>
                </a:solidFill>
              </a:rPr>
              <a:t>of Top </a:t>
            </a:r>
            <a:r>
              <a:rPr lang="en-US" sz="2800" b="1" i="0" baseline="0" dirty="0">
                <a:solidFill>
                  <a:schemeClr val="accent5">
                    <a:lumMod val="50000"/>
                  </a:schemeClr>
                </a:solidFill>
                <a:effectLst/>
                <a:latin typeface="+mn-lt"/>
                <a:ea typeface="+mn-ea"/>
                <a:cs typeface="+mn-cs"/>
              </a:rPr>
              <a:t>Date</a:t>
            </a:r>
            <a:r>
              <a:rPr lang="en-US" sz="2800" b="1" dirty="0">
                <a:solidFill>
                  <a:schemeClr val="accent5">
                    <a:lumMod val="50000"/>
                  </a:schemeClr>
                </a:solidFill>
              </a:rPr>
              <a:t> is N/A.</a:t>
            </a:r>
            <a:endParaRPr lang="en-IN" sz="2800" b="1" dirty="0">
              <a:solidFill>
                <a:schemeClr val="accent5">
                  <a:lumMod val="50000"/>
                </a:schemeClr>
              </a:solidFill>
            </a:endParaRPr>
          </a:p>
        </p:txBody>
      </p:sp>
    </p:spTree>
    <p:extLst>
      <p:ext uri="{BB962C8B-B14F-4D97-AF65-F5344CB8AC3E}">
        <p14:creationId xmlns:p14="http://schemas.microsoft.com/office/powerpoint/2010/main" val="3961525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3E2C49E5-5F17-4A1F-8717-0C3785EE87AD}"/>
              </a:ext>
            </a:extLst>
          </p:cNvPr>
          <p:cNvGraphicFramePr>
            <a:graphicFrameLocks/>
          </p:cNvGraphicFramePr>
          <p:nvPr>
            <p:extLst>
              <p:ext uri="{D42A27DB-BD31-4B8C-83A1-F6EECF244321}">
                <p14:modId xmlns:p14="http://schemas.microsoft.com/office/powerpoint/2010/main" val="3165524509"/>
              </p:ext>
            </p:extLst>
          </p:nvPr>
        </p:nvGraphicFramePr>
        <p:xfrm>
          <a:off x="673768" y="822794"/>
          <a:ext cx="10956758" cy="5642174"/>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46C9439A-3066-218E-51CA-84E30A0835D2}"/>
              </a:ext>
            </a:extLst>
          </p:cNvPr>
          <p:cNvSpPr txBox="1"/>
          <p:nvPr/>
        </p:nvSpPr>
        <p:spPr>
          <a:xfrm>
            <a:off x="352926" y="176463"/>
            <a:ext cx="8422106" cy="646331"/>
          </a:xfrm>
          <a:prstGeom prst="rect">
            <a:avLst/>
          </a:prstGeom>
          <a:noFill/>
        </p:spPr>
        <p:txBody>
          <a:bodyPr wrap="square" rtlCol="0">
            <a:spAutoFit/>
          </a:bodyPr>
          <a:lstStyle/>
          <a:p>
            <a:pPr algn="ctr" rtl="0"/>
            <a:r>
              <a:rPr lang="en-US" sz="3600" b="1" i="0" baseline="0" dirty="0">
                <a:solidFill>
                  <a:schemeClr val="accent4">
                    <a:lumMod val="75000"/>
                  </a:schemeClr>
                </a:solidFill>
                <a:effectLst/>
                <a:latin typeface="+mn-lt"/>
                <a:ea typeface="+mn-ea"/>
                <a:cs typeface="+mn-cs"/>
              </a:rPr>
              <a:t>Count of Region by Payment Mode </a:t>
            </a:r>
            <a:endParaRPr lang="en-IN" sz="4800" dirty="0">
              <a:solidFill>
                <a:schemeClr val="accent4">
                  <a:lumMod val="75000"/>
                </a:schemeClr>
              </a:solidFill>
              <a:effectLst/>
            </a:endParaRPr>
          </a:p>
        </p:txBody>
      </p:sp>
    </p:spTree>
    <p:extLst>
      <p:ext uri="{BB962C8B-B14F-4D97-AF65-F5344CB8AC3E}">
        <p14:creationId xmlns:p14="http://schemas.microsoft.com/office/powerpoint/2010/main" val="168676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A3FB3FA-3E3F-B518-5AA6-5554DFE774CE}"/>
              </a:ext>
            </a:extLst>
          </p:cNvPr>
          <p:cNvSpPr txBox="1"/>
          <p:nvPr/>
        </p:nvSpPr>
        <p:spPr>
          <a:xfrm>
            <a:off x="208547" y="320842"/>
            <a:ext cx="8422106" cy="646331"/>
          </a:xfrm>
          <a:prstGeom prst="rect">
            <a:avLst/>
          </a:prstGeom>
          <a:noFill/>
        </p:spPr>
        <p:txBody>
          <a:bodyPr wrap="square" rtlCol="0">
            <a:spAutoFit/>
          </a:bodyPr>
          <a:lstStyle/>
          <a:p>
            <a:pPr algn="ctr"/>
            <a:r>
              <a:rPr lang="en-IN" sz="3600" b="1" dirty="0">
                <a:solidFill>
                  <a:schemeClr val="accent4">
                    <a:lumMod val="75000"/>
                  </a:schemeClr>
                </a:solidFill>
              </a:rPr>
              <a:t>Major Explanation 5</a:t>
            </a:r>
          </a:p>
        </p:txBody>
      </p:sp>
      <p:sp>
        <p:nvSpPr>
          <p:cNvPr id="2" name="TextBox 1">
            <a:extLst>
              <a:ext uri="{FF2B5EF4-FFF2-40B4-BE49-F238E27FC236}">
                <a16:creationId xmlns:a16="http://schemas.microsoft.com/office/drawing/2014/main" id="{F359DD27-15F1-695C-101A-7C7B3647841F}"/>
              </a:ext>
            </a:extLst>
          </p:cNvPr>
          <p:cNvSpPr txBox="1"/>
          <p:nvPr/>
        </p:nvSpPr>
        <p:spPr>
          <a:xfrm>
            <a:off x="208547" y="1347537"/>
            <a:ext cx="11806990" cy="1384995"/>
          </a:xfrm>
          <a:prstGeom prst="rect">
            <a:avLst/>
          </a:prstGeom>
          <a:noFill/>
        </p:spPr>
        <p:txBody>
          <a:bodyPr wrap="square" rtlCol="0">
            <a:spAutoFit/>
          </a:bodyPr>
          <a:lstStyle/>
          <a:p>
            <a:pPr marL="457200" indent="-457200">
              <a:buFont typeface="Wingdings" panose="05000000000000000000" pitchFamily="2" charset="2"/>
              <a:buChar char="ü"/>
            </a:pPr>
            <a:r>
              <a:rPr lang="en-IN" sz="2800" b="1" dirty="0">
                <a:solidFill>
                  <a:schemeClr val="accent5">
                    <a:lumMod val="50000"/>
                  </a:schemeClr>
                </a:solidFill>
              </a:rPr>
              <a:t>The chart represents the </a:t>
            </a:r>
            <a:r>
              <a:rPr lang="en-US" sz="2800" b="1" i="0" baseline="0" dirty="0">
                <a:solidFill>
                  <a:schemeClr val="accent4">
                    <a:lumMod val="75000"/>
                  </a:schemeClr>
                </a:solidFill>
                <a:effectLst/>
                <a:latin typeface="+mn-lt"/>
                <a:ea typeface="+mn-ea"/>
                <a:cs typeface="+mn-cs"/>
              </a:rPr>
              <a:t>Count of Region by Payment Mode </a:t>
            </a:r>
            <a:r>
              <a:rPr lang="en-US" sz="2800" b="1" i="0" baseline="0" dirty="0">
                <a:solidFill>
                  <a:schemeClr val="accent5">
                    <a:lumMod val="50000"/>
                  </a:schemeClr>
                </a:solidFill>
                <a:effectLst/>
                <a:latin typeface="+mn-lt"/>
                <a:ea typeface="+mn-ea"/>
                <a:cs typeface="+mn-cs"/>
              </a:rPr>
              <a:t>the </a:t>
            </a:r>
            <a:r>
              <a:rPr lang="en-US" sz="2800" b="1" i="0" baseline="0" dirty="0">
                <a:solidFill>
                  <a:schemeClr val="accent4">
                    <a:lumMod val="75000"/>
                  </a:schemeClr>
                </a:solidFill>
                <a:effectLst/>
                <a:latin typeface="+mn-lt"/>
                <a:ea typeface="+mn-ea"/>
                <a:cs typeface="+mn-cs"/>
              </a:rPr>
              <a:t>Most Count</a:t>
            </a:r>
            <a:r>
              <a:rPr lang="en-US" sz="2800" b="1" i="0" baseline="0" dirty="0">
                <a:solidFill>
                  <a:schemeClr val="accent5">
                    <a:lumMod val="50000"/>
                  </a:schemeClr>
                </a:solidFill>
                <a:effectLst/>
                <a:latin typeface="+mn-lt"/>
                <a:ea typeface="+mn-ea"/>
                <a:cs typeface="+mn-cs"/>
              </a:rPr>
              <a:t> of Region in th</a:t>
            </a:r>
            <a:r>
              <a:rPr lang="en-US" sz="2800" b="1" dirty="0">
                <a:solidFill>
                  <a:schemeClr val="accent5">
                    <a:lumMod val="50000"/>
                  </a:schemeClr>
                </a:solidFill>
              </a:rPr>
              <a:t>e payment is </a:t>
            </a:r>
            <a:r>
              <a:rPr lang="en-US" sz="2800" b="1" dirty="0">
                <a:solidFill>
                  <a:schemeClr val="accent4">
                    <a:lumMod val="75000"/>
                  </a:schemeClr>
                </a:solidFill>
              </a:rPr>
              <a:t>Cash(49703) </a:t>
            </a:r>
            <a:r>
              <a:rPr lang="en-US" sz="2800" b="1" dirty="0">
                <a:solidFill>
                  <a:schemeClr val="accent5">
                    <a:lumMod val="50000"/>
                  </a:schemeClr>
                </a:solidFill>
              </a:rPr>
              <a:t>&amp; </a:t>
            </a:r>
            <a:r>
              <a:rPr lang="en-US" sz="2800" b="1" dirty="0">
                <a:solidFill>
                  <a:schemeClr val="accent4">
                    <a:lumMod val="75000"/>
                  </a:schemeClr>
                </a:solidFill>
              </a:rPr>
              <a:t>Least Count </a:t>
            </a:r>
            <a:r>
              <a:rPr lang="en-US" sz="2800" b="1" dirty="0">
                <a:solidFill>
                  <a:schemeClr val="accent5">
                    <a:lumMod val="50000"/>
                  </a:schemeClr>
                </a:solidFill>
              </a:rPr>
              <a:t>is UPI</a:t>
            </a:r>
            <a:r>
              <a:rPr lang="en-IN" sz="2800" b="1" dirty="0">
                <a:solidFill>
                  <a:schemeClr val="accent4">
                    <a:lumMod val="75000"/>
                  </a:schemeClr>
                </a:solidFill>
              </a:rPr>
              <a:t>(24830).</a:t>
            </a:r>
            <a:endParaRPr lang="en-IN" sz="2800" b="1" dirty="0">
              <a:solidFill>
                <a:schemeClr val="accent5">
                  <a:lumMod val="50000"/>
                </a:schemeClr>
              </a:solidFill>
            </a:endParaRPr>
          </a:p>
        </p:txBody>
      </p:sp>
    </p:spTree>
    <p:extLst>
      <p:ext uri="{BB962C8B-B14F-4D97-AF65-F5344CB8AC3E}">
        <p14:creationId xmlns:p14="http://schemas.microsoft.com/office/powerpoint/2010/main" val="1328889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A1B505F3-180F-4A89-AF8C-DBDD4D3E8544}"/>
              </a:ext>
            </a:extLst>
          </p:cNvPr>
          <p:cNvGraphicFramePr>
            <a:graphicFrameLocks/>
          </p:cNvGraphicFramePr>
          <p:nvPr>
            <p:extLst>
              <p:ext uri="{D42A27DB-BD31-4B8C-83A1-F6EECF244321}">
                <p14:modId xmlns:p14="http://schemas.microsoft.com/office/powerpoint/2010/main" val="358429602"/>
              </p:ext>
            </p:extLst>
          </p:nvPr>
        </p:nvGraphicFramePr>
        <p:xfrm>
          <a:off x="898358" y="822794"/>
          <a:ext cx="10555705" cy="5561964"/>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AF82A5A0-1383-0D31-C6A0-07EC3D48F087}"/>
              </a:ext>
            </a:extLst>
          </p:cNvPr>
          <p:cNvSpPr txBox="1"/>
          <p:nvPr/>
        </p:nvSpPr>
        <p:spPr>
          <a:xfrm>
            <a:off x="352926" y="176463"/>
            <a:ext cx="8422106" cy="646331"/>
          </a:xfrm>
          <a:prstGeom prst="rect">
            <a:avLst/>
          </a:prstGeom>
          <a:noFill/>
        </p:spPr>
        <p:txBody>
          <a:bodyPr wrap="square" rtlCol="0">
            <a:spAutoFit/>
          </a:bodyPr>
          <a:lstStyle/>
          <a:p>
            <a:pPr algn="ctr" rtl="0"/>
            <a:r>
              <a:rPr lang="en-US" sz="3600" b="1" i="0" baseline="0" dirty="0">
                <a:solidFill>
                  <a:schemeClr val="accent4">
                    <a:lumMod val="75000"/>
                  </a:schemeClr>
                </a:solidFill>
                <a:effectLst/>
                <a:latin typeface="+mn-lt"/>
                <a:ea typeface="+mn-ea"/>
                <a:cs typeface="+mn-cs"/>
              </a:rPr>
              <a:t>Count of Product Category by Region</a:t>
            </a:r>
            <a:endParaRPr lang="en-IN" sz="4400" dirty="0">
              <a:solidFill>
                <a:schemeClr val="accent4">
                  <a:lumMod val="75000"/>
                </a:schemeClr>
              </a:solidFill>
              <a:effectLst/>
            </a:endParaRPr>
          </a:p>
        </p:txBody>
      </p:sp>
    </p:spTree>
    <p:extLst>
      <p:ext uri="{BB962C8B-B14F-4D97-AF65-F5344CB8AC3E}">
        <p14:creationId xmlns:p14="http://schemas.microsoft.com/office/powerpoint/2010/main" val="256603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A3FB3FA-3E3F-B518-5AA6-5554DFE774CE}"/>
              </a:ext>
            </a:extLst>
          </p:cNvPr>
          <p:cNvSpPr txBox="1"/>
          <p:nvPr/>
        </p:nvSpPr>
        <p:spPr>
          <a:xfrm>
            <a:off x="208547" y="320842"/>
            <a:ext cx="8422106" cy="646331"/>
          </a:xfrm>
          <a:prstGeom prst="rect">
            <a:avLst/>
          </a:prstGeom>
          <a:noFill/>
        </p:spPr>
        <p:txBody>
          <a:bodyPr wrap="square" rtlCol="0">
            <a:spAutoFit/>
          </a:bodyPr>
          <a:lstStyle/>
          <a:p>
            <a:pPr algn="ctr"/>
            <a:r>
              <a:rPr lang="en-IN" sz="3600" b="1" dirty="0">
                <a:solidFill>
                  <a:schemeClr val="accent4">
                    <a:lumMod val="75000"/>
                  </a:schemeClr>
                </a:solidFill>
              </a:rPr>
              <a:t>Major Explanation 6</a:t>
            </a:r>
          </a:p>
        </p:txBody>
      </p:sp>
      <p:sp>
        <p:nvSpPr>
          <p:cNvPr id="3" name="TextBox 2">
            <a:extLst>
              <a:ext uri="{FF2B5EF4-FFF2-40B4-BE49-F238E27FC236}">
                <a16:creationId xmlns:a16="http://schemas.microsoft.com/office/drawing/2014/main" id="{19D0DF7F-F748-9697-226B-73CCBFD6404B}"/>
              </a:ext>
            </a:extLst>
          </p:cNvPr>
          <p:cNvSpPr txBox="1"/>
          <p:nvPr/>
        </p:nvSpPr>
        <p:spPr>
          <a:xfrm>
            <a:off x="208547" y="1347537"/>
            <a:ext cx="11806990" cy="1384995"/>
          </a:xfrm>
          <a:prstGeom prst="rect">
            <a:avLst/>
          </a:prstGeom>
          <a:noFill/>
        </p:spPr>
        <p:txBody>
          <a:bodyPr wrap="square" rtlCol="0">
            <a:spAutoFit/>
          </a:bodyPr>
          <a:lstStyle/>
          <a:p>
            <a:pPr marL="457200" indent="-457200">
              <a:buFont typeface="Wingdings" panose="05000000000000000000" pitchFamily="2" charset="2"/>
              <a:buChar char="ü"/>
            </a:pPr>
            <a:r>
              <a:rPr lang="en-IN" sz="2800" b="1" dirty="0">
                <a:solidFill>
                  <a:schemeClr val="accent5">
                    <a:lumMod val="50000"/>
                  </a:schemeClr>
                </a:solidFill>
              </a:rPr>
              <a:t>The chart represents the </a:t>
            </a:r>
            <a:r>
              <a:rPr lang="en-US" sz="2800" b="1" i="0" baseline="0" dirty="0">
                <a:solidFill>
                  <a:schemeClr val="accent4">
                    <a:lumMod val="75000"/>
                  </a:schemeClr>
                </a:solidFill>
                <a:effectLst/>
                <a:latin typeface="+mn-lt"/>
                <a:ea typeface="+mn-ea"/>
                <a:cs typeface="+mn-cs"/>
              </a:rPr>
              <a:t>Count of Product Category by Region</a:t>
            </a:r>
            <a:r>
              <a:rPr lang="en-US" sz="2800" b="1" i="0" baseline="0" dirty="0">
                <a:solidFill>
                  <a:schemeClr val="accent5">
                    <a:lumMod val="50000"/>
                  </a:schemeClr>
                </a:solidFill>
                <a:effectLst/>
                <a:latin typeface="+mn-lt"/>
                <a:ea typeface="+mn-ea"/>
                <a:cs typeface="+mn-cs"/>
              </a:rPr>
              <a:t> the </a:t>
            </a:r>
            <a:r>
              <a:rPr lang="en-US" sz="2800" b="1" i="0" baseline="0" dirty="0">
                <a:solidFill>
                  <a:schemeClr val="accent4">
                    <a:lumMod val="75000"/>
                  </a:schemeClr>
                </a:solidFill>
                <a:effectLst/>
                <a:latin typeface="+mn-lt"/>
                <a:ea typeface="+mn-ea"/>
                <a:cs typeface="+mn-cs"/>
              </a:rPr>
              <a:t>Most Count</a:t>
            </a:r>
            <a:r>
              <a:rPr lang="en-US" sz="2800" b="1" i="0" baseline="0" dirty="0">
                <a:solidFill>
                  <a:schemeClr val="accent5">
                    <a:lumMod val="50000"/>
                  </a:schemeClr>
                </a:solidFill>
                <a:effectLst/>
                <a:latin typeface="+mn-lt"/>
                <a:ea typeface="+mn-ea"/>
                <a:cs typeface="+mn-cs"/>
              </a:rPr>
              <a:t> of Product in th</a:t>
            </a:r>
            <a:r>
              <a:rPr lang="en-US" sz="2800" b="1" dirty="0">
                <a:solidFill>
                  <a:schemeClr val="accent5">
                    <a:lumMod val="50000"/>
                  </a:schemeClr>
                </a:solidFill>
              </a:rPr>
              <a:t>e region is </a:t>
            </a:r>
            <a:r>
              <a:rPr lang="en-US" sz="2800" b="1" dirty="0">
                <a:solidFill>
                  <a:schemeClr val="accent4">
                    <a:lumMod val="75000"/>
                  </a:schemeClr>
                </a:solidFill>
              </a:rPr>
              <a:t>North(37500) </a:t>
            </a:r>
            <a:r>
              <a:rPr lang="en-US" sz="2800" b="1" dirty="0">
                <a:solidFill>
                  <a:schemeClr val="accent5">
                    <a:lumMod val="50000"/>
                  </a:schemeClr>
                </a:solidFill>
              </a:rPr>
              <a:t>&amp; </a:t>
            </a:r>
            <a:r>
              <a:rPr lang="en-US" sz="2800" b="1" dirty="0">
                <a:solidFill>
                  <a:schemeClr val="accent4">
                    <a:lumMod val="75000"/>
                  </a:schemeClr>
                </a:solidFill>
              </a:rPr>
              <a:t>Least count </a:t>
            </a:r>
            <a:r>
              <a:rPr lang="en-US" sz="2800" b="1" dirty="0">
                <a:solidFill>
                  <a:schemeClr val="accent5">
                    <a:lumMod val="50000"/>
                  </a:schemeClr>
                </a:solidFill>
              </a:rPr>
              <a:t>is Central</a:t>
            </a:r>
            <a:r>
              <a:rPr lang="en-IN" sz="2800" b="1" dirty="0">
                <a:solidFill>
                  <a:schemeClr val="accent4">
                    <a:lumMod val="75000"/>
                  </a:schemeClr>
                </a:solidFill>
              </a:rPr>
              <a:t>(18696).</a:t>
            </a:r>
            <a:endParaRPr lang="en-IN" sz="2800" b="1" dirty="0">
              <a:solidFill>
                <a:schemeClr val="accent5">
                  <a:lumMod val="50000"/>
                </a:schemeClr>
              </a:solidFill>
            </a:endParaRPr>
          </a:p>
        </p:txBody>
      </p:sp>
    </p:spTree>
    <p:extLst>
      <p:ext uri="{BB962C8B-B14F-4D97-AF65-F5344CB8AC3E}">
        <p14:creationId xmlns:p14="http://schemas.microsoft.com/office/powerpoint/2010/main" val="366554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A3FB3FA-3E3F-B518-5AA6-5554DFE774CE}"/>
              </a:ext>
            </a:extLst>
          </p:cNvPr>
          <p:cNvSpPr txBox="1"/>
          <p:nvPr/>
        </p:nvSpPr>
        <p:spPr>
          <a:xfrm>
            <a:off x="208547" y="320842"/>
            <a:ext cx="8422106" cy="646331"/>
          </a:xfrm>
          <a:prstGeom prst="rect">
            <a:avLst/>
          </a:prstGeom>
          <a:noFill/>
        </p:spPr>
        <p:txBody>
          <a:bodyPr wrap="square" rtlCol="0">
            <a:spAutoFit/>
          </a:bodyPr>
          <a:lstStyle/>
          <a:p>
            <a:pPr algn="ctr"/>
            <a:r>
              <a:rPr lang="en-IN" sz="3600" b="1" dirty="0">
                <a:solidFill>
                  <a:schemeClr val="accent4">
                    <a:lumMod val="75000"/>
                  </a:schemeClr>
                </a:solidFill>
              </a:rPr>
              <a:t>6. Dashboard</a:t>
            </a:r>
          </a:p>
        </p:txBody>
      </p:sp>
      <p:pic>
        <p:nvPicPr>
          <p:cNvPr id="4" name="Picture 3" descr="A close-up of a chart&#10;&#10;AI-generated content may be incorrect.">
            <a:extLst>
              <a:ext uri="{FF2B5EF4-FFF2-40B4-BE49-F238E27FC236}">
                <a16:creationId xmlns:a16="http://schemas.microsoft.com/office/drawing/2014/main" id="{006C0395-9225-4AFA-16B7-678D2E2F4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7173"/>
            <a:ext cx="12192000" cy="5890827"/>
          </a:xfrm>
          <a:prstGeom prst="rect">
            <a:avLst/>
          </a:prstGeom>
        </p:spPr>
      </p:pic>
    </p:spTree>
    <p:extLst>
      <p:ext uri="{BB962C8B-B14F-4D97-AF65-F5344CB8AC3E}">
        <p14:creationId xmlns:p14="http://schemas.microsoft.com/office/powerpoint/2010/main" val="12816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D9FB-B08B-6550-BEBF-B430741924E7}"/>
              </a:ext>
            </a:extLst>
          </p:cNvPr>
          <p:cNvSpPr>
            <a:spLocks noGrp="1"/>
          </p:cNvSpPr>
          <p:nvPr>
            <p:ph type="title"/>
          </p:nvPr>
        </p:nvSpPr>
        <p:spPr>
          <a:xfrm>
            <a:off x="5905501" y="664108"/>
            <a:ext cx="4709488" cy="1084367"/>
          </a:xfrm>
        </p:spPr>
        <p:txBody>
          <a:bodyPr/>
          <a:lstStyle/>
          <a:p>
            <a:r>
              <a:rPr lang="en-US" dirty="0"/>
              <a:t>Thank You</a:t>
            </a:r>
          </a:p>
        </p:txBody>
      </p:sp>
      <p:pic>
        <p:nvPicPr>
          <p:cNvPr id="5" name="Picture Placeholder 4" descr="A black and white photo of a flower">
            <a:extLst>
              <a:ext uri="{FF2B5EF4-FFF2-40B4-BE49-F238E27FC236}">
                <a16:creationId xmlns:a16="http://schemas.microsoft.com/office/drawing/2014/main" id="{B42686CC-96E9-16F2-FA21-C9E971CEB346}"/>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a:stretch/>
        </p:blipFill>
        <p:spPr>
          <a:xfrm>
            <a:off x="1190627" y="0"/>
            <a:ext cx="3771898" cy="6858000"/>
          </a:xfrm>
        </p:spPr>
      </p:pic>
      <p:sp>
        <p:nvSpPr>
          <p:cNvPr id="3" name="Content Placeholder 2">
            <a:extLst>
              <a:ext uri="{FF2B5EF4-FFF2-40B4-BE49-F238E27FC236}">
                <a16:creationId xmlns:a16="http://schemas.microsoft.com/office/drawing/2014/main" id="{79BC7904-BA22-561E-1DE0-8E716FCEA69E}"/>
              </a:ext>
            </a:extLst>
          </p:cNvPr>
          <p:cNvSpPr>
            <a:spLocks noGrp="1"/>
          </p:cNvSpPr>
          <p:nvPr>
            <p:ph sz="quarter" idx="13"/>
          </p:nvPr>
        </p:nvSpPr>
        <p:spPr>
          <a:xfrm>
            <a:off x="4962525" y="2496190"/>
            <a:ext cx="7229475" cy="4241494"/>
          </a:xfrm>
        </p:spPr>
        <p:txBody>
          <a:bodyPr>
            <a:normAutofit/>
          </a:bodyPr>
          <a:lstStyle/>
          <a:p>
            <a:pPr marL="0" indent="0">
              <a:buNone/>
            </a:pPr>
            <a:r>
              <a:rPr lang="en-US" dirty="0"/>
              <a:t>        PORNIMAA S</a:t>
            </a:r>
          </a:p>
          <a:p>
            <a:pPr marL="0" indent="0">
              <a:buNone/>
            </a:pPr>
            <a:r>
              <a:rPr lang="en-US" dirty="0"/>
              <a:t>        </a:t>
            </a:r>
            <a:r>
              <a:rPr lang="en-US" dirty="0">
                <a:hlinkClick r:id="rId3"/>
              </a:rPr>
              <a:t>spornimaa@0504gmail.com</a:t>
            </a:r>
            <a:r>
              <a:rPr lang="en-US" dirty="0"/>
              <a:t> </a:t>
            </a:r>
          </a:p>
          <a:p>
            <a:pPr marL="0" indent="0">
              <a:buNone/>
            </a:pPr>
            <a:r>
              <a:rPr lang="en-US" dirty="0"/>
              <a:t>        9360461108</a:t>
            </a:r>
          </a:p>
          <a:p>
            <a:pPr marL="0" indent="0">
              <a:buNone/>
            </a:pPr>
            <a:r>
              <a:rPr lang="en-US" dirty="0"/>
              <a:t>        https://github.com/PornimaaS-050421/Project2_Sales_Dataset_Analysis_2022-2025</a:t>
            </a:r>
          </a:p>
          <a:p>
            <a:pPr marL="0" indent="0">
              <a:buNone/>
            </a:pPr>
            <a:r>
              <a:rPr lang="en-US" dirty="0"/>
              <a:t>        </a:t>
            </a:r>
          </a:p>
        </p:txBody>
      </p:sp>
    </p:spTree>
    <p:extLst>
      <p:ext uri="{BB962C8B-B14F-4D97-AF65-F5344CB8AC3E}">
        <p14:creationId xmlns:p14="http://schemas.microsoft.com/office/powerpoint/2010/main" val="1420335191"/>
      </p:ext>
    </p:extLst>
  </p:cSld>
  <p:clrMapOvr>
    <a:masterClrMapping/>
  </p:clrMapOvr>
</p:sld>
</file>

<file path=ppt/theme/theme1.xml><?xml version="1.0" encoding="utf-8"?>
<a:theme xmlns:a="http://schemas.openxmlformats.org/drawingml/2006/main" name="Gold Minimalism">
  <a:themeElements>
    <a:clrScheme name="Custom 8">
      <a:dk1>
        <a:sysClr val="windowText" lastClr="000000"/>
      </a:dk1>
      <a:lt1>
        <a:sysClr val="window" lastClr="FFFFFF"/>
      </a:lt1>
      <a:dk2>
        <a:srgbClr val="2C3932"/>
      </a:dk2>
      <a:lt2>
        <a:srgbClr val="B17A5B"/>
      </a:lt2>
      <a:accent1>
        <a:srgbClr val="CEBA80"/>
      </a:accent1>
      <a:accent2>
        <a:srgbClr val="4E364F"/>
      </a:accent2>
      <a:accent3>
        <a:srgbClr val="7A7567"/>
      </a:accent3>
      <a:accent4>
        <a:srgbClr val="364F4A"/>
      </a:accent4>
      <a:accent5>
        <a:srgbClr val="96A3C4"/>
      </a:accent5>
      <a:accent6>
        <a:srgbClr val="C2CFBB"/>
      </a:accent6>
      <a:hlink>
        <a:srgbClr val="169C9A"/>
      </a:hlink>
      <a:folHlink>
        <a:srgbClr val="E15C3D"/>
      </a:folHlink>
    </a:clrScheme>
    <a:fontScheme name="Custom 15">
      <a:majorFont>
        <a:latin typeface="Aptos Light"/>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uted minimalism sales presentation_win32_DN_v2" id="{C17B8461-7BAF-4AD3-85EC-10BA211770A4}" vid="{9A34595D-8FE1-48E7-A441-CE2046B778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185BFC-6E97-4C88-9034-F2A7ED1C005E}">
  <ds:schemaRefs>
    <ds:schemaRef ds:uri="http://schemas.openxmlformats.org/package/2006/metadata/core-properties"/>
    <ds:schemaRef ds:uri="http://schemas.microsoft.com/office/2006/metadata/properties"/>
    <ds:schemaRef ds:uri="71af3243-3dd4-4a8d-8c0d-dd76da1f02a5"/>
    <ds:schemaRef ds:uri="http://schemas.microsoft.com/office/2006/documentManagement/types"/>
    <ds:schemaRef ds:uri="http://purl.org/dc/dcmitype/"/>
    <ds:schemaRef ds:uri="http://purl.org/dc/terms/"/>
    <ds:schemaRef ds:uri="http://schemas.microsoft.com/sharepoint/v3"/>
    <ds:schemaRef ds:uri="http://schemas.microsoft.com/office/infopath/2007/PartnerControls"/>
    <ds:schemaRef ds:uri="http://purl.org/dc/elements/1.1/"/>
    <ds:schemaRef ds:uri="http://www.w3.org/XML/1998/namespace"/>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3.xml><?xml version="1.0" encoding="utf-8"?>
<ds:datastoreItem xmlns:ds="http://schemas.openxmlformats.org/officeDocument/2006/customXml" ds:itemID="{52BAF2CE-2C32-498E-B467-6C60C37679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Muted minimalism sales presentation</Template>
  <TotalTime>435</TotalTime>
  <Words>437</Words>
  <Application>Microsoft Office PowerPoint</Application>
  <PresentationFormat>Widescreen</PresentationFormat>
  <Paragraphs>43</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Aptos Light</vt:lpstr>
      <vt:lpstr>Arial</vt:lpstr>
      <vt:lpstr>Gill Sans MT</vt:lpstr>
      <vt:lpstr>Wingdings</vt:lpstr>
      <vt:lpstr>Gold Minimalism</vt:lpstr>
      <vt:lpstr>Sales Dataset Analysis  2022-2025</vt:lpstr>
      <vt:lpstr>Agenda</vt:lpstr>
      <vt:lpstr>1.INTRODUCTION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Pornimaa S</dc:creator>
  <cp:lastModifiedBy>Pornimaa S</cp:lastModifiedBy>
  <cp:revision>4</cp:revision>
  <dcterms:created xsi:type="dcterms:W3CDTF">2026-03-17T19:16:00Z</dcterms:created>
  <dcterms:modified xsi:type="dcterms:W3CDTF">2026-03-18T13:25:08Z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